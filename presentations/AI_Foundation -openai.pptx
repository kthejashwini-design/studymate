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3"/>
  </p:notesMasterIdLst>
  <p:sldIdLst>
    <p:sldId id="256" r:id="rId2"/>
    <p:sldId id="27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78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80" r:id="rId21"/>
    <p:sldId id="281" r:id="rId22"/>
    <p:sldId id="282" r:id="rId23"/>
    <p:sldId id="283" r:id="rId24"/>
    <p:sldId id="273" r:id="rId25"/>
    <p:sldId id="285" r:id="rId26"/>
    <p:sldId id="284" r:id="rId27"/>
    <p:sldId id="274" r:id="rId28"/>
    <p:sldId id="287" r:id="rId29"/>
    <p:sldId id="288" r:id="rId30"/>
    <p:sldId id="289" r:id="rId31"/>
    <p:sldId id="275" r:id="rId3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7" d="100"/>
          <a:sy n="77" d="100"/>
        </p:scale>
        <p:origin x="749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479609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13698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463040"/>
            <a:ext cx="5029200" cy="5029200"/>
          </a:xfrm>
          <a:prstGeom prst="ellipse">
            <a:avLst/>
          </a:prstGeom>
          <a:solidFill>
            <a:srgbClr val="263172"/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-548640"/>
            <a:ext cx="3200400" cy="3200400"/>
          </a:xfrm>
          <a:prstGeom prst="ellipse">
            <a:avLst/>
          </a:prstGeom>
          <a:solidFill>
            <a:srgbClr val="2E3B85"/>
          </a:solidFill>
          <a:ln/>
        </p:spPr>
      </p:sp>
      <p:sp>
        <p:nvSpPr>
          <p:cNvPr id="4" name="Shape 2"/>
          <p:cNvSpPr/>
          <p:nvPr/>
        </p:nvSpPr>
        <p:spPr>
          <a:xfrm>
            <a:off x="-1280160" y="4846320"/>
            <a:ext cx="3840480" cy="3840480"/>
          </a:xfrm>
          <a:prstGeom prst="ellipse">
            <a:avLst/>
          </a:prstGeom>
          <a:solidFill>
            <a:srgbClr val="263172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1417320"/>
            <a:ext cx="2743200" cy="457200"/>
          </a:xfrm>
          <a:prstGeom prst="roundRect">
            <a:avLst>
              <a:gd name="adj" fmla="val 50000"/>
            </a:avLst>
          </a:prstGeom>
          <a:solidFill>
            <a:srgbClr val="2E3B85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4173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5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ACADEMY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77240" y="2057400"/>
            <a:ext cx="9601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Foundations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822960" y="32004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Practical Skills for Working with AI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822960" y="4114800"/>
            <a:ext cx="2514600" cy="1051560"/>
          </a:xfrm>
          <a:prstGeom prst="roundRect">
            <a:avLst>
              <a:gd name="adj" fmla="val 6957"/>
            </a:avLst>
          </a:prstGeom>
          <a:solidFill>
            <a:srgbClr val="2E3B85"/>
          </a:solidFill>
          <a:ln/>
        </p:spPr>
      </p:sp>
      <p:sp>
        <p:nvSpPr>
          <p:cNvPr id="10" name="Text 8"/>
          <p:cNvSpPr/>
          <p:nvPr/>
        </p:nvSpPr>
        <p:spPr>
          <a:xfrm>
            <a:off x="1005840" y="4224528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~70 minutes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1005840" y="4690872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2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520440" y="4114800"/>
            <a:ext cx="2514600" cy="1051560"/>
          </a:xfrm>
          <a:prstGeom prst="roundRect">
            <a:avLst>
              <a:gd name="adj" fmla="val 6957"/>
            </a:avLst>
          </a:prstGeom>
          <a:solidFill>
            <a:srgbClr val="2E3B85"/>
          </a:solidFill>
          <a:ln/>
        </p:spPr>
      </p:sp>
      <p:sp>
        <p:nvSpPr>
          <p:cNvPr id="13" name="Text 11"/>
          <p:cNvSpPr/>
          <p:nvPr/>
        </p:nvSpPr>
        <p:spPr>
          <a:xfrm>
            <a:off x="3703320" y="4224528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Self-paced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3703320" y="4690872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2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217920" y="4114800"/>
            <a:ext cx="2514600" cy="1051560"/>
          </a:xfrm>
          <a:prstGeom prst="roundRect">
            <a:avLst>
              <a:gd name="adj" fmla="val 6957"/>
            </a:avLst>
          </a:prstGeom>
          <a:solidFill>
            <a:srgbClr val="2E3B85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0" y="4224528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6400800" y="4690872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2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FAC9758-25E9-8B55-2BF9-151F84C15B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048" y="186999"/>
            <a:ext cx="11077904" cy="61793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54112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INTRODUCTION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AI Foundations?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50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Foundations introduces the basic skills needed to work effectively with Artificial Intelligence.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224028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WILL LEARN ABOUT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2606040"/>
            <a:ext cx="2542032" cy="777240"/>
          </a:xfrm>
          <a:prstGeom prst="roundRect">
            <a:avLst>
              <a:gd name="adj" fmla="val 9412"/>
            </a:avLst>
          </a:prstGeom>
          <a:solidFill>
            <a:srgbClr val="F7F9FC"/>
          </a:solidFill>
          <a:ln/>
          <a:effectLst>
            <a:outerShdw blurRad="101600" dist="38100" dir="5400000" algn="bl" rotWithShape="0">
              <a:srgbClr val="1B1F2A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85800" y="2606040"/>
            <a:ext cx="22677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Artificial Intelligence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36976" y="2606040"/>
            <a:ext cx="2542032" cy="777240"/>
          </a:xfrm>
          <a:prstGeom prst="roundRect">
            <a:avLst>
              <a:gd name="adj" fmla="val 9412"/>
            </a:avLst>
          </a:prstGeom>
          <a:solidFill>
            <a:srgbClr val="F7F9FC"/>
          </a:solidFill>
          <a:ln/>
          <a:effectLst>
            <a:outerShdw blurRad="101600" dist="38100" dir="5400000" algn="bl" rotWithShape="0">
              <a:srgbClr val="1B1F2A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374136" y="2606040"/>
            <a:ext cx="22677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Language Models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925312" y="2606040"/>
            <a:ext cx="2542032" cy="777240"/>
          </a:xfrm>
          <a:prstGeom prst="roundRect">
            <a:avLst>
              <a:gd name="adj" fmla="val 9412"/>
            </a:avLst>
          </a:prstGeom>
          <a:solidFill>
            <a:srgbClr val="F7F9FC"/>
          </a:solidFill>
          <a:ln/>
          <a:effectLst>
            <a:outerShdw blurRad="101600" dist="38100" dir="5400000" algn="bl" rotWithShape="0">
              <a:srgbClr val="1B1F2A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062472" y="2606040"/>
            <a:ext cx="22677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613648" y="2606040"/>
            <a:ext cx="2542032" cy="777240"/>
          </a:xfrm>
          <a:prstGeom prst="roundRect">
            <a:avLst>
              <a:gd name="adj" fmla="val 9412"/>
            </a:avLst>
          </a:prstGeom>
          <a:solidFill>
            <a:srgbClr val="F7F9FC"/>
          </a:solidFill>
          <a:ln/>
          <a:effectLst>
            <a:outerShdw blurRad="101600" dist="38100" dir="5400000" algn="bl" rotWithShape="0">
              <a:srgbClr val="1B1F2A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750808" y="2606040"/>
            <a:ext cx="22677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Prompting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3529584"/>
            <a:ext cx="2542032" cy="777240"/>
          </a:xfrm>
          <a:prstGeom prst="roundRect">
            <a:avLst>
              <a:gd name="adj" fmla="val 9412"/>
            </a:avLst>
          </a:prstGeom>
          <a:solidFill>
            <a:srgbClr val="F7F9FC"/>
          </a:solidFill>
          <a:ln/>
          <a:effectLst>
            <a:outerShdw blurRad="101600" dist="38100" dir="5400000" algn="bl" rotWithShape="0">
              <a:srgbClr val="1B1F2A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85800" y="3529584"/>
            <a:ext cx="22677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Providing context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236976" y="3529584"/>
            <a:ext cx="2542032" cy="777240"/>
          </a:xfrm>
          <a:prstGeom prst="roundRect">
            <a:avLst>
              <a:gd name="adj" fmla="val 9412"/>
            </a:avLst>
          </a:prstGeom>
          <a:solidFill>
            <a:srgbClr val="F7F9FC"/>
          </a:solidFill>
          <a:ln/>
          <a:effectLst>
            <a:outerShdw blurRad="101600" dist="38100" dir="5400000" algn="bl" rotWithShape="0">
              <a:srgbClr val="1B1F2A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374136" y="3529584"/>
            <a:ext cx="22677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Reviewing AI outputs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925312" y="3529584"/>
            <a:ext cx="2542032" cy="777240"/>
          </a:xfrm>
          <a:prstGeom prst="roundRect">
            <a:avLst>
              <a:gd name="adj" fmla="val 9412"/>
            </a:avLst>
          </a:prstGeom>
          <a:solidFill>
            <a:srgbClr val="F7F9FC"/>
          </a:solidFill>
          <a:ln/>
          <a:effectLst>
            <a:outerShdw blurRad="101600" dist="38100" dir="5400000" algn="bl" rotWithShape="0">
              <a:srgbClr val="1B1F2A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062472" y="3529584"/>
            <a:ext cx="22677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Responsible use of AI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48640" y="5257800"/>
            <a:ext cx="11064240" cy="1143000"/>
          </a:xfrm>
          <a:prstGeom prst="roundRect">
            <a:avLst>
              <a:gd name="adj" fmla="val 6400"/>
            </a:avLst>
          </a:prstGeom>
          <a:solidFill>
            <a:srgbClr val="1E2761"/>
          </a:solidFill>
          <a:ln/>
          <a:effectLst>
            <a:outerShdw blurRad="101600" dist="38100" dir="5400000" algn="bl" rotWithShape="0">
              <a:srgbClr val="1B1F2A">
                <a:alpha val="1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868680" y="541324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IDEA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68680" y="566928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55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is not only about knowing how AI works — it is also about knowing how to work with AI effectively.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Foundations — OpenAI Academy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1457432" y="65105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INTRODUCTION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Is This Course For?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60604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B1F2A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92024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920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251460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new to AI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337560" y="1691640"/>
            <a:ext cx="260604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B1F2A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566160" y="192024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3566160" y="1920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520440" y="251460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who want to improve their AI skills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126480" y="1691640"/>
            <a:ext cx="260604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B1F2A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355080" y="192024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4" name="Text 12"/>
          <p:cNvSpPr/>
          <p:nvPr/>
        </p:nvSpPr>
        <p:spPr>
          <a:xfrm>
            <a:off x="6355080" y="1920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309360" y="251460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and professionals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915400" y="1691640"/>
            <a:ext cx="260604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B1F2A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9144000" y="192024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8" name="Text 16"/>
          <p:cNvSpPr/>
          <p:nvPr/>
        </p:nvSpPr>
        <p:spPr>
          <a:xfrm>
            <a:off x="9144000" y="1920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9098280" y="251460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who want to use AI effectively at work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48640" y="3520440"/>
            <a:ext cx="5349240" cy="2606040"/>
          </a:xfrm>
          <a:prstGeom prst="roundRect">
            <a:avLst>
              <a:gd name="adj" fmla="val 2807"/>
            </a:avLst>
          </a:prstGeom>
          <a:solidFill>
            <a:srgbClr val="1E2761"/>
          </a:solidFill>
          <a:ln/>
          <a:effectLst>
            <a:outerShdw blurRad="101600" dist="38100" dir="5400000" algn="bl" rotWithShape="0">
              <a:srgbClr val="1B1F2A">
                <a:alpha val="1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868680" y="3794760"/>
            <a:ext cx="4709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2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TECHNICAL BACKGROUND REQUIRED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68680" y="4114800"/>
            <a:ext cx="4709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do not need: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68680" y="4434840"/>
            <a:ext cx="4709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40000"/>
              </a:lnSpc>
              <a:buSzPct val="100000"/>
              <a:buChar char="•"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Programming knowledge</a:t>
            </a:r>
            <a:endParaRPr lang="en-US" sz="1450" dirty="0"/>
          </a:p>
          <a:p>
            <a:pPr marL="177800" indent="-177800">
              <a:lnSpc>
                <a:spcPct val="140000"/>
              </a:lnSpc>
              <a:buSzPct val="100000"/>
              <a:buChar char="•"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mathematics</a:t>
            </a:r>
            <a:endParaRPr lang="en-US" sz="1450" dirty="0"/>
          </a:p>
          <a:p>
            <a:pPr marL="177800" indent="-177800">
              <a:lnSpc>
                <a:spcPct val="140000"/>
              </a:lnSpc>
              <a:buSzPct val="100000"/>
              <a:buChar char="•"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expertise</a:t>
            </a:r>
            <a:endParaRPr lang="en-US" sz="1450" dirty="0"/>
          </a:p>
        </p:txBody>
      </p:sp>
      <p:sp>
        <p:nvSpPr>
          <p:cNvPr id="24" name="Shape 22"/>
          <p:cNvSpPr/>
          <p:nvPr/>
        </p:nvSpPr>
        <p:spPr>
          <a:xfrm>
            <a:off x="6080760" y="3520440"/>
            <a:ext cx="5532120" cy="260604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B1F2A">
                <a:alpha val="1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400800" y="3794760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2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NEED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400800" y="4297680"/>
            <a:ext cx="457200" cy="45720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27" name="Text 25"/>
          <p:cNvSpPr/>
          <p:nvPr/>
        </p:nvSpPr>
        <p:spPr>
          <a:xfrm>
            <a:off x="6400800" y="4297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7040880" y="4297680"/>
            <a:ext cx="4251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ChatGPT account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400800" y="5074920"/>
            <a:ext cx="457200" cy="45720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30" name="Text 28"/>
          <p:cNvSpPr/>
          <p:nvPr/>
        </p:nvSpPr>
        <p:spPr>
          <a:xfrm>
            <a:off x="6400800" y="5074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7040880" y="5074920"/>
            <a:ext cx="4251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 task to practice with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Foundations — OpenAI Academy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11457432" y="65105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INTRODUCTION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Will You Learn?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course focuses on four practical AI skills.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2606040" cy="3840480"/>
          </a:xfrm>
          <a:prstGeom prst="roundRect">
            <a:avLst>
              <a:gd name="adj" fmla="val 2807"/>
            </a:avLst>
          </a:prstGeom>
          <a:solidFill>
            <a:srgbClr val="1E2761"/>
          </a:solidFill>
          <a:ln/>
          <a:effectLst>
            <a:outerShdw blurRad="101600" dist="38100" dir="5400000" algn="bl" rotWithShape="0">
              <a:srgbClr val="1B1F2A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485900" y="2468880"/>
            <a:ext cx="731520" cy="73152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7" name="Text 5"/>
          <p:cNvSpPr/>
          <p:nvPr/>
        </p:nvSpPr>
        <p:spPr>
          <a:xfrm>
            <a:off x="1485900" y="24688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731520" y="347472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Give Clear Instructions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777240" y="4297680"/>
            <a:ext cx="2148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 AI exactly what you want.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154680" y="3794760"/>
            <a:ext cx="256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3410712" y="2148840"/>
            <a:ext cx="2606040" cy="3840480"/>
          </a:xfrm>
          <a:prstGeom prst="roundRect">
            <a:avLst>
              <a:gd name="adj" fmla="val 2807"/>
            </a:avLst>
          </a:prstGeom>
          <a:solidFill>
            <a:srgbClr val="2E3B85"/>
          </a:solidFill>
          <a:ln/>
          <a:effectLst>
            <a:outerShdw blurRad="101600" dist="38100" dir="5400000" algn="bl" rotWithShape="0">
              <a:srgbClr val="1B1F2A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347972" y="2468880"/>
            <a:ext cx="731520" cy="73152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13" name="Text 11"/>
          <p:cNvSpPr/>
          <p:nvPr/>
        </p:nvSpPr>
        <p:spPr>
          <a:xfrm>
            <a:off x="4347972" y="24688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3593592" y="347472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Provide Context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3639312" y="4297680"/>
            <a:ext cx="2148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AI the information it needs.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016752" y="3794760"/>
            <a:ext cx="256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6272784" y="2148840"/>
            <a:ext cx="2606040" cy="3840480"/>
          </a:xfrm>
          <a:prstGeom prst="roundRect">
            <a:avLst>
              <a:gd name="adj" fmla="val 2807"/>
            </a:avLst>
          </a:prstGeom>
          <a:solidFill>
            <a:srgbClr val="2E3B85"/>
          </a:solidFill>
          <a:ln/>
          <a:effectLst>
            <a:outerShdw blurRad="101600" dist="38100" dir="5400000" algn="bl" rotWithShape="0">
              <a:srgbClr val="1B1F2A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7210044" y="2468880"/>
            <a:ext cx="731520" cy="73152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19" name="Text 17"/>
          <p:cNvSpPr/>
          <p:nvPr/>
        </p:nvSpPr>
        <p:spPr>
          <a:xfrm>
            <a:off x="7210044" y="24688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6455664" y="347472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Review the Output</a:t>
            </a:r>
            <a:endParaRPr lang="en-US" sz="1550" dirty="0"/>
          </a:p>
        </p:txBody>
      </p:sp>
      <p:sp>
        <p:nvSpPr>
          <p:cNvPr id="21" name="Text 19"/>
          <p:cNvSpPr/>
          <p:nvPr/>
        </p:nvSpPr>
        <p:spPr>
          <a:xfrm>
            <a:off x="6501384" y="4297680"/>
            <a:ext cx="2148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whether the response is accurate and useful.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878824" y="3794760"/>
            <a:ext cx="256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23" name="Shape 21"/>
          <p:cNvSpPr/>
          <p:nvPr/>
        </p:nvSpPr>
        <p:spPr>
          <a:xfrm>
            <a:off x="9134856" y="2148840"/>
            <a:ext cx="2606040" cy="3840480"/>
          </a:xfrm>
          <a:prstGeom prst="roundRect">
            <a:avLst>
              <a:gd name="adj" fmla="val 2807"/>
            </a:avLst>
          </a:prstGeom>
          <a:solidFill>
            <a:srgbClr val="1E2761"/>
          </a:solidFill>
          <a:ln/>
          <a:effectLst>
            <a:outerShdw blurRad="101600" dist="38100" dir="5400000" algn="bl" rotWithShape="0">
              <a:srgbClr val="1B1F2A">
                <a:alpha val="1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10072116" y="2468880"/>
            <a:ext cx="731520" cy="73152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25" name="Text 23"/>
          <p:cNvSpPr/>
          <p:nvPr/>
        </p:nvSpPr>
        <p:spPr>
          <a:xfrm>
            <a:off x="10072116" y="24688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800" dirty="0"/>
          </a:p>
        </p:txBody>
      </p:sp>
      <p:sp>
        <p:nvSpPr>
          <p:cNvPr id="26" name="Text 24"/>
          <p:cNvSpPr/>
          <p:nvPr/>
        </p:nvSpPr>
        <p:spPr>
          <a:xfrm>
            <a:off x="9317736" y="347472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 AI Responsibly</a:t>
            </a:r>
            <a:endParaRPr lang="en-US" sz="1550" dirty="0"/>
          </a:p>
        </p:txBody>
      </p:sp>
      <p:sp>
        <p:nvSpPr>
          <p:cNvPr id="27" name="Text 25"/>
          <p:cNvSpPr/>
          <p:nvPr/>
        </p:nvSpPr>
        <p:spPr>
          <a:xfrm>
            <a:off x="9363456" y="4297680"/>
            <a:ext cx="2148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human judgment and responsibility in the process.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Foundations — OpenAI Academy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1457432" y="65105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OVERVIEW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Approximately 70 Minutes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learning path is designed to be completed in about 70 minutes.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219456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APPROACH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2606040"/>
            <a:ext cx="2331720" cy="1554480"/>
          </a:xfrm>
          <a:prstGeom prst="roundRect">
            <a:avLst>
              <a:gd name="adj" fmla="val 4706"/>
            </a:avLst>
          </a:prstGeom>
          <a:solidFill>
            <a:srgbClr val="1E2761"/>
          </a:solidFill>
          <a:ln/>
          <a:effectLst>
            <a:outerShdw blurRad="101600" dist="38100" dir="5400000" algn="bl" rotWithShape="0">
              <a:srgbClr val="1B1F2A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31520" y="274320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48640" y="329184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2953512" y="3182112"/>
            <a:ext cx="539496" cy="402336"/>
          </a:xfrm>
          <a:prstGeom prst="rightArrow">
            <a:avLst/>
          </a:prstGeom>
          <a:solidFill>
            <a:srgbClr val="F2A93B"/>
          </a:solidFill>
          <a:ln/>
        </p:spPr>
      </p:sp>
      <p:sp>
        <p:nvSpPr>
          <p:cNvPr id="10" name="Shape 8"/>
          <p:cNvSpPr/>
          <p:nvPr/>
        </p:nvSpPr>
        <p:spPr>
          <a:xfrm>
            <a:off x="3566160" y="2606040"/>
            <a:ext cx="2331720" cy="1554480"/>
          </a:xfrm>
          <a:prstGeom prst="roundRect">
            <a:avLst>
              <a:gd name="adj" fmla="val 4706"/>
            </a:avLst>
          </a:prstGeom>
          <a:solidFill>
            <a:srgbClr val="2E3B85"/>
          </a:solidFill>
          <a:ln/>
          <a:effectLst>
            <a:outerShdw blurRad="101600" dist="38100" dir="5400000" algn="bl" rotWithShape="0">
              <a:srgbClr val="1B1F2A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749040" y="274320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566160" y="329184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Practice</a:t>
            </a:r>
            <a:endParaRPr lang="en-US" sz="1900" dirty="0"/>
          </a:p>
        </p:txBody>
      </p:sp>
      <p:sp>
        <p:nvSpPr>
          <p:cNvPr id="13" name="Shape 11"/>
          <p:cNvSpPr/>
          <p:nvPr/>
        </p:nvSpPr>
        <p:spPr>
          <a:xfrm>
            <a:off x="5971032" y="3182112"/>
            <a:ext cx="539496" cy="402336"/>
          </a:xfrm>
          <a:prstGeom prst="rightArrow">
            <a:avLst/>
          </a:prstGeom>
          <a:solidFill>
            <a:srgbClr val="F2A93B"/>
          </a:solidFill>
          <a:ln/>
        </p:spPr>
      </p:sp>
      <p:sp>
        <p:nvSpPr>
          <p:cNvPr id="14" name="Shape 12"/>
          <p:cNvSpPr/>
          <p:nvPr/>
        </p:nvSpPr>
        <p:spPr>
          <a:xfrm>
            <a:off x="6583680" y="2606040"/>
            <a:ext cx="2331720" cy="1554480"/>
          </a:xfrm>
          <a:prstGeom prst="roundRect">
            <a:avLst>
              <a:gd name="adj" fmla="val 4706"/>
            </a:avLst>
          </a:prstGeom>
          <a:solidFill>
            <a:srgbClr val="1E2761"/>
          </a:solidFill>
          <a:ln/>
          <a:effectLst>
            <a:outerShdw blurRad="101600" dist="38100" dir="5400000" algn="bl" rotWithShape="0">
              <a:srgbClr val="1B1F2A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766560" y="274320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583680" y="329184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Review</a:t>
            </a:r>
            <a:endParaRPr lang="en-US" sz="1900" dirty="0"/>
          </a:p>
        </p:txBody>
      </p:sp>
      <p:sp>
        <p:nvSpPr>
          <p:cNvPr id="17" name="Shape 15"/>
          <p:cNvSpPr/>
          <p:nvPr/>
        </p:nvSpPr>
        <p:spPr>
          <a:xfrm>
            <a:off x="8988552" y="3182112"/>
            <a:ext cx="539496" cy="402336"/>
          </a:xfrm>
          <a:prstGeom prst="rightArrow">
            <a:avLst/>
          </a:prstGeom>
          <a:solidFill>
            <a:srgbClr val="F2A93B"/>
          </a:solidFill>
          <a:ln/>
        </p:spPr>
      </p:sp>
      <p:sp>
        <p:nvSpPr>
          <p:cNvPr id="18" name="Shape 16"/>
          <p:cNvSpPr/>
          <p:nvPr/>
        </p:nvSpPr>
        <p:spPr>
          <a:xfrm>
            <a:off x="9601200" y="2606040"/>
            <a:ext cx="2331720" cy="1554480"/>
          </a:xfrm>
          <a:prstGeom prst="roundRect">
            <a:avLst>
              <a:gd name="adj" fmla="val 4706"/>
            </a:avLst>
          </a:prstGeom>
          <a:solidFill>
            <a:srgbClr val="2E3B85"/>
          </a:solidFill>
          <a:ln/>
          <a:effectLst>
            <a:outerShdw blurRad="101600" dist="38100" dir="5400000" algn="bl" rotWithShape="0">
              <a:srgbClr val="1B1F2A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9784080" y="274320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9601200" y="329184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Improve</a:t>
            </a:r>
            <a:endParaRPr lang="en-US" sz="1900" dirty="0"/>
          </a:p>
        </p:txBody>
      </p:sp>
      <p:sp>
        <p:nvSpPr>
          <p:cNvPr id="21" name="Text 19"/>
          <p:cNvSpPr/>
          <p:nvPr/>
        </p:nvSpPr>
        <p:spPr>
          <a:xfrm>
            <a:off x="548640" y="44805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cycle repeats as you build confidence with real tasks.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548640" y="5029200"/>
            <a:ext cx="11064240" cy="1325880"/>
          </a:xfrm>
          <a:prstGeom prst="roundRect">
            <a:avLst>
              <a:gd name="adj" fmla="val 5517"/>
            </a:avLst>
          </a:prstGeom>
          <a:solidFill>
            <a:srgbClr val="1E2761"/>
          </a:solidFill>
          <a:ln/>
          <a:effectLst>
            <a:outerShdw blurRad="101600" dist="38100" dir="5400000" algn="bl" rotWithShape="0">
              <a:srgbClr val="1B1F2A">
                <a:alpha val="1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868680" y="5193792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WILL WORK WITH A REAL TASK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68680" y="5486400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5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will work with a real task while learning how to use AI effectively — so the skills transfer directly to your own work.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Foundations — OpenAI Academy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1457432" y="65105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OVERVIEW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Course Completion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625596" y="1691640"/>
            <a:ext cx="4937760" cy="777240"/>
          </a:xfrm>
          <a:prstGeom prst="roundRect">
            <a:avLst>
              <a:gd name="adj" fmla="val 9412"/>
            </a:avLst>
          </a:prstGeom>
          <a:solidFill>
            <a:srgbClr val="1E2761"/>
          </a:solidFill>
          <a:ln/>
          <a:effectLst>
            <a:outerShdw blurRad="101600" dist="38100" dir="5400000" algn="bl" rotWithShape="0">
              <a:srgbClr val="1B1F2A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808476" y="1833372"/>
            <a:ext cx="493776" cy="493776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6" name="Text 4"/>
          <p:cNvSpPr/>
          <p:nvPr/>
        </p:nvSpPr>
        <p:spPr>
          <a:xfrm>
            <a:off x="3808476" y="1833372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494276" y="1691640"/>
            <a:ext cx="3886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Complete the course</a:t>
            </a:r>
            <a:endParaRPr lang="en-US" sz="1650" dirty="0"/>
          </a:p>
        </p:txBody>
      </p:sp>
      <p:sp>
        <p:nvSpPr>
          <p:cNvPr id="8" name="Shape 6"/>
          <p:cNvSpPr/>
          <p:nvPr/>
        </p:nvSpPr>
        <p:spPr>
          <a:xfrm>
            <a:off x="5911596" y="2496312"/>
            <a:ext cx="365760" cy="329184"/>
          </a:xfrm>
          <a:prstGeom prst="downArrow">
            <a:avLst/>
          </a:prstGeom>
          <a:solidFill>
            <a:srgbClr val="5B6478"/>
          </a:solidFill>
          <a:ln/>
        </p:spPr>
      </p:sp>
      <p:sp>
        <p:nvSpPr>
          <p:cNvPr id="9" name="Shape 7"/>
          <p:cNvSpPr/>
          <p:nvPr/>
        </p:nvSpPr>
        <p:spPr>
          <a:xfrm>
            <a:off x="3625596" y="2852928"/>
            <a:ext cx="4937760" cy="777240"/>
          </a:xfrm>
          <a:prstGeom prst="roundRect">
            <a:avLst>
              <a:gd name="adj" fmla="val 9412"/>
            </a:avLst>
          </a:prstGeom>
          <a:solidFill>
            <a:srgbClr val="2E3B85"/>
          </a:solidFill>
          <a:ln/>
          <a:effectLst>
            <a:outerShdw blurRad="101600" dist="38100" dir="5400000" algn="bl" rotWithShape="0">
              <a:srgbClr val="1B1F2A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808476" y="2994660"/>
            <a:ext cx="493776" cy="493776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11" name="Text 9"/>
          <p:cNvSpPr/>
          <p:nvPr/>
        </p:nvSpPr>
        <p:spPr>
          <a:xfrm>
            <a:off x="3808476" y="2994660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494276" y="2852928"/>
            <a:ext cx="3886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Complete the assessment</a:t>
            </a:r>
            <a:endParaRPr lang="en-US" sz="1650" dirty="0"/>
          </a:p>
        </p:txBody>
      </p:sp>
      <p:sp>
        <p:nvSpPr>
          <p:cNvPr id="13" name="Shape 11"/>
          <p:cNvSpPr/>
          <p:nvPr/>
        </p:nvSpPr>
        <p:spPr>
          <a:xfrm>
            <a:off x="5911596" y="3657600"/>
            <a:ext cx="365760" cy="329184"/>
          </a:xfrm>
          <a:prstGeom prst="downArrow">
            <a:avLst/>
          </a:prstGeom>
          <a:solidFill>
            <a:srgbClr val="5B6478"/>
          </a:solidFill>
          <a:ln/>
        </p:spPr>
      </p:sp>
      <p:sp>
        <p:nvSpPr>
          <p:cNvPr id="14" name="Shape 12"/>
          <p:cNvSpPr/>
          <p:nvPr/>
        </p:nvSpPr>
        <p:spPr>
          <a:xfrm>
            <a:off x="3625596" y="4014216"/>
            <a:ext cx="4937760" cy="777240"/>
          </a:xfrm>
          <a:prstGeom prst="roundRect">
            <a:avLst>
              <a:gd name="adj" fmla="val 9412"/>
            </a:avLst>
          </a:prstGeom>
          <a:solidFill>
            <a:srgbClr val="2E3B85"/>
          </a:solidFill>
          <a:ln/>
          <a:effectLst>
            <a:outerShdw blurRad="101600" dist="38100" dir="5400000" algn="bl" rotWithShape="0">
              <a:srgbClr val="1B1F2A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808476" y="4155948"/>
            <a:ext cx="493776" cy="493776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16" name="Text 14"/>
          <p:cNvSpPr/>
          <p:nvPr/>
        </p:nvSpPr>
        <p:spPr>
          <a:xfrm>
            <a:off x="3808476" y="4155948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4494276" y="4014216"/>
            <a:ext cx="3886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Score at least 80%</a:t>
            </a:r>
            <a:endParaRPr lang="en-US" sz="1650" dirty="0"/>
          </a:p>
        </p:txBody>
      </p:sp>
      <p:sp>
        <p:nvSpPr>
          <p:cNvPr id="18" name="Shape 16"/>
          <p:cNvSpPr/>
          <p:nvPr/>
        </p:nvSpPr>
        <p:spPr>
          <a:xfrm>
            <a:off x="5911596" y="4818888"/>
            <a:ext cx="365760" cy="329184"/>
          </a:xfrm>
          <a:prstGeom prst="downArrow">
            <a:avLst/>
          </a:prstGeom>
          <a:solidFill>
            <a:srgbClr val="5B6478"/>
          </a:solidFill>
          <a:ln/>
        </p:spPr>
      </p:sp>
      <p:sp>
        <p:nvSpPr>
          <p:cNvPr id="19" name="Shape 17"/>
          <p:cNvSpPr/>
          <p:nvPr/>
        </p:nvSpPr>
        <p:spPr>
          <a:xfrm>
            <a:off x="3625596" y="5175504"/>
            <a:ext cx="4937760" cy="777240"/>
          </a:xfrm>
          <a:prstGeom prst="roundRect">
            <a:avLst>
              <a:gd name="adj" fmla="val 9412"/>
            </a:avLst>
          </a:prstGeom>
          <a:solidFill>
            <a:srgbClr val="F2A93B"/>
          </a:solidFill>
          <a:ln/>
          <a:effectLst>
            <a:outerShdw blurRad="101600" dist="38100" dir="5400000" algn="bl" rotWithShape="0">
              <a:srgbClr val="1B1F2A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808476" y="5317236"/>
            <a:ext cx="493776" cy="49377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1" name="Text 19"/>
          <p:cNvSpPr/>
          <p:nvPr/>
        </p:nvSpPr>
        <p:spPr>
          <a:xfrm>
            <a:off x="3808476" y="5317236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4494276" y="5175504"/>
            <a:ext cx="3886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Earn your OpenAI Academy course badge</a:t>
            </a:r>
            <a:endParaRPr lang="en-US" sz="1650" dirty="0"/>
          </a:p>
        </p:txBody>
      </p:sp>
      <p:sp>
        <p:nvSpPr>
          <p:cNvPr id="23" name="Text 21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Foundations — OpenAI Academy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1457432" y="65105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GETTING STARTED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to Take the Course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520440" cy="443484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B1F2A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01168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0116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22960" y="274320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Interactive Learning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22960" y="3291840"/>
            <a:ext cx="29718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25000"/>
              </a:lnSpc>
              <a:buSzPct val="100000"/>
              <a:buChar char="•"/>
            </a:pPr>
            <a:r>
              <a:rPr lang="en-US" sz="13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ChatGPT available while learning</a:t>
            </a:r>
            <a:endParaRPr lang="en-US" sz="1350" dirty="0"/>
          </a:p>
          <a:p>
            <a:pPr marL="177800" indent="-177800">
              <a:lnSpc>
                <a:spcPct val="125000"/>
              </a:lnSpc>
              <a:buSzPct val="100000"/>
              <a:buChar char="•"/>
            </a:pPr>
            <a:r>
              <a:rPr lang="en-US" sz="13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different prompts, instructions, context, and AI features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4343400" y="1691640"/>
            <a:ext cx="3520440" cy="443484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B1F2A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63440" y="201168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4663440" y="20116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617720" y="274320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Choose a Practice Task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617720" y="3291840"/>
            <a:ext cx="29718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25000"/>
              </a:lnSpc>
              <a:buSzPct val="100000"/>
              <a:buChar char="•"/>
            </a:pPr>
            <a:r>
              <a:rPr lang="en-US" sz="13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Drafting an email</a:t>
            </a:r>
            <a:endParaRPr lang="en-US" sz="1350" dirty="0"/>
          </a:p>
          <a:p>
            <a:pPr marL="177800" indent="-177800">
              <a:lnSpc>
                <a:spcPct val="125000"/>
              </a:lnSpc>
              <a:buSzPct val="100000"/>
              <a:buChar char="•"/>
            </a:pPr>
            <a:r>
              <a:rPr lang="en-US" sz="13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Summarizing notes</a:t>
            </a:r>
            <a:endParaRPr lang="en-US" sz="1350" dirty="0"/>
          </a:p>
          <a:p>
            <a:pPr marL="177800" indent="-177800">
              <a:lnSpc>
                <a:spcPct val="125000"/>
              </a:lnSpc>
              <a:buSzPct val="100000"/>
              <a:buChar char="•"/>
            </a:pPr>
            <a:r>
              <a:rPr lang="en-US" sz="13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Explaining a concept</a:t>
            </a:r>
            <a:endParaRPr lang="en-US" sz="1350" dirty="0"/>
          </a:p>
          <a:p>
            <a:pPr marL="177800" indent="-177800">
              <a:lnSpc>
                <a:spcPct val="125000"/>
              </a:lnSpc>
              <a:buSzPct val="100000"/>
              <a:buChar char="•"/>
            </a:pPr>
            <a:r>
              <a:rPr lang="en-US" sz="13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 a meeting</a:t>
            </a:r>
            <a:endParaRPr lang="en-US" sz="1350" dirty="0"/>
          </a:p>
          <a:p>
            <a:pPr marL="177800" indent="-177800">
              <a:lnSpc>
                <a:spcPct val="125000"/>
              </a:lnSpc>
              <a:buSzPct val="100000"/>
              <a:buChar char="•"/>
            </a:pPr>
            <a:r>
              <a:rPr lang="en-US" sz="13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Brainstorming or organizing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8138160" y="1691640"/>
            <a:ext cx="3520440" cy="443484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B1F2A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458200" y="2011680"/>
            <a:ext cx="566928" cy="566928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16" name="Text 14"/>
          <p:cNvSpPr/>
          <p:nvPr/>
        </p:nvSpPr>
        <p:spPr>
          <a:xfrm>
            <a:off x="8458200" y="20116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8412480" y="274320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Remember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412480" y="3291840"/>
            <a:ext cx="29718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25000"/>
              </a:lnSpc>
              <a:buSzPct val="100000"/>
              <a:buChar char="•"/>
            </a:pPr>
            <a:r>
              <a:rPr lang="en-US" sz="13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use sensitive, private, or confidential information for practice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Foundations — OpenAI Academy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1457432" y="65105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AI AND LLMS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AI?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120640" cy="4023360"/>
          </a:xfrm>
          <a:prstGeom prst="roundRect">
            <a:avLst>
              <a:gd name="adj" fmla="val 1818"/>
            </a:avLst>
          </a:prstGeom>
          <a:solidFill>
            <a:srgbClr val="1E2761"/>
          </a:solidFill>
          <a:ln/>
          <a:effectLst>
            <a:outerShdw blurRad="101600" dist="38100" dir="5400000" algn="bl" rotWithShape="0">
              <a:srgbClr val="1B1F2A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194560"/>
            <a:ext cx="1005840" cy="100584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19456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868680" y="3429000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Artificial Intelligence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868680" y="402336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broad category of computer systems.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68680" y="4617720"/>
            <a:ext cx="4480560" cy="0"/>
          </a:xfrm>
          <a:prstGeom prst="line">
            <a:avLst/>
          </a:prstGeom>
          <a:noFill/>
          <a:ln w="12700">
            <a:solidFill>
              <a:srgbClr val="3A459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475488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can: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035040" y="1920240"/>
            <a:ext cx="5577840" cy="914400"/>
          </a:xfrm>
          <a:prstGeom prst="roundRect">
            <a:avLst>
              <a:gd name="adj" fmla="val 8000"/>
            </a:avLst>
          </a:prstGeom>
          <a:solidFill>
            <a:srgbClr val="F7F9FC"/>
          </a:solidFill>
          <a:ln/>
          <a:effectLst>
            <a:outerShdw blurRad="101600" dist="38100" dir="5400000" algn="bl" rotWithShape="0">
              <a:srgbClr val="1B1F2A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263640" y="214884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6263640" y="2148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903720" y="1920240"/>
            <a:ext cx="4480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Recognize patterns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035040" y="3017520"/>
            <a:ext cx="5577840" cy="914400"/>
          </a:xfrm>
          <a:prstGeom prst="roundRect">
            <a:avLst>
              <a:gd name="adj" fmla="val 8000"/>
            </a:avLst>
          </a:prstGeom>
          <a:solidFill>
            <a:srgbClr val="F7F9FC"/>
          </a:solidFill>
          <a:ln/>
          <a:effectLst>
            <a:outerShdw blurRad="101600" dist="38100" dir="5400000" algn="bl" rotWithShape="0">
              <a:srgbClr val="1B1F2A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263640" y="324612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7" name="Text 15"/>
          <p:cNvSpPr/>
          <p:nvPr/>
        </p:nvSpPr>
        <p:spPr>
          <a:xfrm>
            <a:off x="6263640" y="3246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903720" y="3017520"/>
            <a:ext cx="4480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predictions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035040" y="4114800"/>
            <a:ext cx="5577840" cy="914400"/>
          </a:xfrm>
          <a:prstGeom prst="roundRect">
            <a:avLst>
              <a:gd name="adj" fmla="val 8000"/>
            </a:avLst>
          </a:prstGeom>
          <a:solidFill>
            <a:srgbClr val="F7F9FC"/>
          </a:solidFill>
          <a:ln/>
          <a:effectLst>
            <a:outerShdw blurRad="101600" dist="38100" dir="5400000" algn="bl" rotWithShape="0">
              <a:srgbClr val="1B1F2A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263640" y="434340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1" name="Text 19"/>
          <p:cNvSpPr/>
          <p:nvPr/>
        </p:nvSpPr>
        <p:spPr>
          <a:xfrm>
            <a:off x="6263640" y="4343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903720" y="4114800"/>
            <a:ext cx="4480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or organize information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Foundations — OpenAI Academy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1457432" y="65105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AI AND LLMS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an LLM?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1064240" cy="1554480"/>
          </a:xfrm>
          <a:prstGeom prst="roundRect">
            <a:avLst>
              <a:gd name="adj" fmla="val 4706"/>
            </a:avLst>
          </a:prstGeom>
          <a:solidFill>
            <a:srgbClr val="1E2761"/>
          </a:solidFill>
          <a:ln/>
          <a:effectLst>
            <a:outerShdw blurRad="101600" dist="38100" dir="5400000" algn="bl" rotWithShape="0">
              <a:srgbClr val="1B1F2A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148840"/>
            <a:ext cx="914400" cy="91440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14884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2057400" y="2103120"/>
            <a:ext cx="9052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Large Language Model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2057400" y="2606040"/>
            <a:ext cx="9052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type of AI that works with language.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48640" y="370332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AI AND LLMS RELATE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4114800"/>
            <a:ext cx="4023360" cy="1463040"/>
          </a:xfrm>
          <a:prstGeom prst="roundRect">
            <a:avLst>
              <a:gd name="adj" fmla="val 5000"/>
            </a:avLst>
          </a:prstGeom>
          <a:solidFill>
            <a:srgbClr val="CADCFC"/>
          </a:solidFill>
          <a:ln/>
          <a:effectLst>
            <a:outerShdw blurRad="101600" dist="38100" dir="5400000" algn="bl" rotWithShape="0">
              <a:srgbClr val="1B1F2A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48640" y="4114800"/>
            <a:ext cx="4023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Artificial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Intelligence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4709160" y="4572000"/>
            <a:ext cx="685800" cy="548640"/>
          </a:xfrm>
          <a:prstGeom prst="rightArrow">
            <a:avLst/>
          </a:prstGeom>
          <a:solidFill>
            <a:srgbClr val="F2A93B"/>
          </a:solidFill>
          <a:ln/>
        </p:spPr>
      </p:sp>
      <p:sp>
        <p:nvSpPr>
          <p:cNvPr id="13" name="Text 11"/>
          <p:cNvSpPr/>
          <p:nvPr/>
        </p:nvSpPr>
        <p:spPr>
          <a:xfrm>
            <a:off x="4617720" y="5138928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532120" y="4114800"/>
            <a:ext cx="4023360" cy="1463040"/>
          </a:xfrm>
          <a:prstGeom prst="roundRect">
            <a:avLst>
              <a:gd name="adj" fmla="val 5000"/>
            </a:avLst>
          </a:prstGeom>
          <a:solidFill>
            <a:srgbClr val="1E2761"/>
          </a:solidFill>
          <a:ln/>
          <a:effectLst>
            <a:outerShdw blurRad="101600" dist="38100" dir="5400000" algn="bl" rotWithShape="0">
              <a:srgbClr val="1B1F2A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532120" y="4114800"/>
            <a:ext cx="4023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Large Language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Models (LLMs)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9692640" y="4572000"/>
            <a:ext cx="685800" cy="548640"/>
          </a:xfrm>
          <a:prstGeom prst="rightArrow">
            <a:avLst/>
          </a:prstGeom>
          <a:solidFill>
            <a:srgbClr val="F2A93B"/>
          </a:solidFill>
          <a:ln/>
        </p:spPr>
      </p:sp>
      <p:sp>
        <p:nvSpPr>
          <p:cNvPr id="17" name="Text 15"/>
          <p:cNvSpPr/>
          <p:nvPr/>
        </p:nvSpPr>
        <p:spPr>
          <a:xfrm>
            <a:off x="9601200" y="5138928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10515600" y="4297680"/>
            <a:ext cx="1097280" cy="1097280"/>
          </a:xfrm>
          <a:prstGeom prst="roundRect">
            <a:avLst>
              <a:gd name="adj" fmla="val 6667"/>
            </a:avLst>
          </a:prstGeom>
          <a:solidFill>
            <a:srgbClr val="F2A93B"/>
          </a:solidFill>
          <a:ln/>
          <a:effectLst>
            <a:outerShdw blurRad="101600" dist="38100" dir="5400000" algn="bl" rotWithShape="0">
              <a:srgbClr val="1B1F2A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10515600" y="429768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GPT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Foundations — OpenAI Academy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1457432" y="65105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AI AND LLMS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ChatGPT?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11064240" cy="1143000"/>
          </a:xfrm>
          <a:prstGeom prst="roundRect">
            <a:avLst>
              <a:gd name="adj" fmla="val 6400"/>
            </a:avLst>
          </a:prstGeom>
          <a:solidFill>
            <a:srgbClr val="1E2761"/>
          </a:solidFill>
          <a:ln/>
          <a:effectLst>
            <a:outerShdw blurRad="101600" dist="38100" dir="5400000" algn="bl" rotWithShape="0">
              <a:srgbClr val="1B1F2A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1737360"/>
            <a:ext cx="104241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 OpenAI product that makes an LLM easier to use.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548640" y="306324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INCLUDES FEATURES SUCH AS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3429000"/>
            <a:ext cx="2542032" cy="777240"/>
          </a:xfrm>
          <a:prstGeom prst="roundRect">
            <a:avLst>
              <a:gd name="adj" fmla="val 9412"/>
            </a:avLst>
          </a:prstGeom>
          <a:solidFill>
            <a:srgbClr val="F7F9FC"/>
          </a:solidFill>
          <a:ln/>
          <a:effectLst>
            <a:outerShdw blurRad="101600" dist="38100" dir="5400000" algn="bl" rotWithShape="0">
              <a:srgbClr val="1B1F2A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85800" y="3429000"/>
            <a:ext cx="22677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uploads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236976" y="3429000"/>
            <a:ext cx="2542032" cy="777240"/>
          </a:xfrm>
          <a:prstGeom prst="roundRect">
            <a:avLst>
              <a:gd name="adj" fmla="val 9412"/>
            </a:avLst>
          </a:prstGeom>
          <a:solidFill>
            <a:srgbClr val="F7F9FC"/>
          </a:solidFill>
          <a:ln/>
          <a:effectLst>
            <a:outerShdw blurRad="101600" dist="38100" dir="5400000" algn="bl" rotWithShape="0">
              <a:srgbClr val="1B1F2A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374136" y="3429000"/>
            <a:ext cx="22677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925312" y="3429000"/>
            <a:ext cx="2542032" cy="777240"/>
          </a:xfrm>
          <a:prstGeom prst="roundRect">
            <a:avLst>
              <a:gd name="adj" fmla="val 9412"/>
            </a:avLst>
          </a:prstGeom>
          <a:solidFill>
            <a:srgbClr val="F7F9FC"/>
          </a:solidFill>
          <a:ln/>
          <a:effectLst>
            <a:outerShdw blurRad="101600" dist="38100" dir="5400000" algn="bl" rotWithShape="0">
              <a:srgbClr val="1B1F2A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062472" y="3429000"/>
            <a:ext cx="22677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Personalization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613648" y="3429000"/>
            <a:ext cx="2542032" cy="777240"/>
          </a:xfrm>
          <a:prstGeom prst="roundRect">
            <a:avLst>
              <a:gd name="adj" fmla="val 9412"/>
            </a:avLst>
          </a:prstGeom>
          <a:solidFill>
            <a:srgbClr val="F7F9FC"/>
          </a:solidFill>
          <a:ln/>
          <a:effectLst>
            <a:outerShdw blurRad="101600" dist="38100" dir="5400000" algn="bl" rotWithShape="0">
              <a:srgbClr val="1B1F2A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750808" y="3429000"/>
            <a:ext cx="22677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generation &amp; editing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48640" y="4352544"/>
            <a:ext cx="2542032" cy="777240"/>
          </a:xfrm>
          <a:prstGeom prst="roundRect">
            <a:avLst>
              <a:gd name="adj" fmla="val 9412"/>
            </a:avLst>
          </a:prstGeom>
          <a:solidFill>
            <a:srgbClr val="F7F9FC"/>
          </a:solidFill>
          <a:ln/>
          <a:effectLst>
            <a:outerShdw blurRad="101600" dist="38100" dir="5400000" algn="bl" rotWithShape="0">
              <a:srgbClr val="1B1F2A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85800" y="4352544"/>
            <a:ext cx="22677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extraction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3236976" y="4352544"/>
            <a:ext cx="2542032" cy="777240"/>
          </a:xfrm>
          <a:prstGeom prst="roundRect">
            <a:avLst>
              <a:gd name="adj" fmla="val 9412"/>
            </a:avLst>
          </a:prstGeom>
          <a:solidFill>
            <a:srgbClr val="F7F9FC"/>
          </a:solidFill>
          <a:ln/>
          <a:effectLst>
            <a:outerShdw blurRad="101600" dist="38100" dir="5400000" algn="bl" rotWithShape="0">
              <a:srgbClr val="1B1F2A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3374136" y="4352544"/>
            <a:ext cx="22677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analysis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925312" y="4352544"/>
            <a:ext cx="2542032" cy="777240"/>
          </a:xfrm>
          <a:prstGeom prst="roundRect">
            <a:avLst>
              <a:gd name="adj" fmla="val 9412"/>
            </a:avLst>
          </a:prstGeom>
          <a:solidFill>
            <a:srgbClr val="F7F9FC"/>
          </a:solidFill>
          <a:ln/>
          <a:effectLst>
            <a:outerShdw blurRad="101600" dist="38100" dir="5400000" algn="bl" rotWithShape="0">
              <a:srgbClr val="1B1F2A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062472" y="4352544"/>
            <a:ext cx="22677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features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Foundations — OpenAI Academy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1457432" y="65105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AI AND LLMS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Can LLMs Do?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246888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B1F2A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737360"/>
            <a:ext cx="2468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Prompt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108960" y="2011680"/>
            <a:ext cx="640080" cy="457200"/>
          </a:xfrm>
          <a:prstGeom prst="rightArrow">
            <a:avLst/>
          </a:prstGeom>
          <a:solidFill>
            <a:srgbClr val="F2A93B"/>
          </a:solidFill>
          <a:ln/>
        </p:spPr>
      </p:sp>
      <p:sp>
        <p:nvSpPr>
          <p:cNvPr id="7" name="Shape 5"/>
          <p:cNvSpPr/>
          <p:nvPr/>
        </p:nvSpPr>
        <p:spPr>
          <a:xfrm>
            <a:off x="3840480" y="1600200"/>
            <a:ext cx="2743200" cy="1280160"/>
          </a:xfrm>
          <a:prstGeom prst="roundRect">
            <a:avLst>
              <a:gd name="adj" fmla="val 5714"/>
            </a:avLst>
          </a:prstGeom>
          <a:solidFill>
            <a:srgbClr val="1E2761"/>
          </a:solidFill>
          <a:ln/>
          <a:effectLst>
            <a:outerShdw blurRad="101600" dist="38100" dir="5400000" algn="bl" rotWithShape="0">
              <a:srgbClr val="1B1F2A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840480" y="1600200"/>
            <a:ext cx="2743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LLM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6675120" y="2011680"/>
            <a:ext cx="640080" cy="457200"/>
          </a:xfrm>
          <a:prstGeom prst="rightArrow">
            <a:avLst/>
          </a:prstGeom>
          <a:solidFill>
            <a:srgbClr val="F2A93B"/>
          </a:solidFill>
          <a:ln/>
        </p:spPr>
      </p:sp>
      <p:sp>
        <p:nvSpPr>
          <p:cNvPr id="10" name="Shape 8"/>
          <p:cNvSpPr/>
          <p:nvPr/>
        </p:nvSpPr>
        <p:spPr>
          <a:xfrm>
            <a:off x="7406640" y="1737360"/>
            <a:ext cx="4206240" cy="1005840"/>
          </a:xfrm>
          <a:prstGeom prst="roundRect">
            <a:avLst>
              <a:gd name="adj" fmla="val 7273"/>
            </a:avLst>
          </a:prstGeom>
          <a:solidFill>
            <a:srgbClr val="CADCFC"/>
          </a:solidFill>
          <a:ln/>
          <a:effectLst>
            <a:outerShdw blurRad="101600" dist="38100" dir="5400000" algn="bl" rotWithShape="0">
              <a:srgbClr val="1B1F2A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543800" y="1737360"/>
            <a:ext cx="3931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Drafted / Explained / Organized Response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8640" y="315468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TASKS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520440"/>
            <a:ext cx="352044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B1F2A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31520" y="3520440"/>
            <a:ext cx="31546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Drafting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251960" y="3520440"/>
            <a:ext cx="352044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B1F2A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434840" y="3520440"/>
            <a:ext cx="31546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Summarizing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7955280" y="3520440"/>
            <a:ext cx="352044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B1F2A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8138160" y="3520440"/>
            <a:ext cx="31546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Explaining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48640" y="4754880"/>
            <a:ext cx="352044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B1F2A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731520" y="4754880"/>
            <a:ext cx="31546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4251960" y="4754880"/>
            <a:ext cx="352044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B1F2A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434840" y="4754880"/>
            <a:ext cx="31546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Brainstorming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7955280" y="4754880"/>
            <a:ext cx="352044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B1F2A">
                <a:alpha val="1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8138160" y="4754880"/>
            <a:ext cx="31546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Organizing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Foundations — OpenAI Academy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1457432" y="65105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AI AND LLMS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LLMs Generate Responses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3383280" cy="2926080"/>
          </a:xfrm>
          <a:prstGeom prst="roundRect">
            <a:avLst>
              <a:gd name="adj" fmla="val 2500"/>
            </a:avLst>
          </a:prstGeom>
          <a:solidFill>
            <a:srgbClr val="2E3B85"/>
          </a:solidFill>
          <a:ln/>
          <a:effectLst>
            <a:outerShdw blurRad="101600" dist="38100" dir="5400000" algn="bl" rotWithShape="0">
              <a:srgbClr val="1B1F2A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920240" y="2194560"/>
            <a:ext cx="640080" cy="64008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6" name="Text 4"/>
          <p:cNvSpPr/>
          <p:nvPr/>
        </p:nvSpPr>
        <p:spPr>
          <a:xfrm>
            <a:off x="1920240" y="21945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777240" y="306324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Prediction, Not Retrieval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3794760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does not simply retrieve a stored answer.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3931920" y="3108960"/>
            <a:ext cx="3840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4315968" y="1920240"/>
            <a:ext cx="3383280" cy="2926080"/>
          </a:xfrm>
          <a:prstGeom prst="roundRect">
            <a:avLst>
              <a:gd name="adj" fmla="val 2500"/>
            </a:avLst>
          </a:prstGeom>
          <a:solidFill>
            <a:srgbClr val="1E2761"/>
          </a:solidFill>
          <a:ln/>
          <a:effectLst>
            <a:outerShdw blurRad="101600" dist="38100" dir="5400000" algn="bl" rotWithShape="0">
              <a:srgbClr val="1B1F2A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687568" y="2194560"/>
            <a:ext cx="640080" cy="64008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12" name="Text 10"/>
          <p:cNvSpPr/>
          <p:nvPr/>
        </p:nvSpPr>
        <p:spPr>
          <a:xfrm>
            <a:off x="5687568" y="21945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4544568" y="306324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Step-by-Step Generation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590288" y="3794760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predicts what word or phrase is likely to come next.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7699248" y="3108960"/>
            <a:ext cx="3840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8083296" y="1920240"/>
            <a:ext cx="3383280" cy="2926080"/>
          </a:xfrm>
          <a:prstGeom prst="roundRect">
            <a:avLst>
              <a:gd name="adj" fmla="val 2500"/>
            </a:avLst>
          </a:prstGeom>
          <a:solidFill>
            <a:srgbClr val="2E3B85"/>
          </a:solidFill>
          <a:ln/>
          <a:effectLst>
            <a:outerShdw blurRad="101600" dist="38100" dir="5400000" algn="bl" rotWithShape="0">
              <a:srgbClr val="1B1F2A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9454896" y="2194560"/>
            <a:ext cx="640080" cy="64008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18" name="Text 16"/>
          <p:cNvSpPr/>
          <p:nvPr/>
        </p:nvSpPr>
        <p:spPr>
          <a:xfrm>
            <a:off x="9454896" y="21945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8311896" y="306324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Continuous Context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8357616" y="3794760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generated word becomes part of the context for the next prediction.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 flipV="1">
            <a:off x="4114800" y="5029200"/>
            <a:ext cx="3931920" cy="914400"/>
          </a:xfrm>
          <a:prstGeom prst="bentArrow">
            <a:avLst/>
          </a:prstGeom>
          <a:solidFill>
            <a:srgbClr val="5B6478"/>
          </a:solidFill>
          <a:ln/>
        </p:spPr>
      </p:sp>
      <p:sp>
        <p:nvSpPr>
          <p:cNvPr id="22" name="Text 20"/>
          <p:cNvSpPr/>
          <p:nvPr/>
        </p:nvSpPr>
        <p:spPr>
          <a:xfrm>
            <a:off x="548640" y="58064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word feeds back into the context for the next prediction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Foundations — OpenAI Academy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1457432" y="65105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AI AND LLMS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AI Models Are Trained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“Learn” means recognizing and using patterns in data — different from human learning, thinking, or understanding.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1851660" y="2743200"/>
            <a:ext cx="8503920" cy="0"/>
          </a:xfrm>
          <a:prstGeom prst="line">
            <a:avLst/>
          </a:prstGeom>
          <a:noFill/>
          <a:ln w="25400">
            <a:solidFill>
              <a:srgbClr val="1E2761"/>
            </a:solidFill>
            <a:prstDash val="dash"/>
          </a:ln>
        </p:spPr>
      </p:sp>
      <p:sp>
        <p:nvSpPr>
          <p:cNvPr id="6" name="Shape 4"/>
          <p:cNvSpPr/>
          <p:nvPr/>
        </p:nvSpPr>
        <p:spPr>
          <a:xfrm>
            <a:off x="1531620" y="242316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1531620" y="24231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548640" y="3246120"/>
            <a:ext cx="260604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B1F2A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31520" y="342900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Pre-training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731520" y="3931920"/>
            <a:ext cx="22402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Learns basic language and patterns from large amounts of text.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366260" y="242316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2" name="Text 10"/>
          <p:cNvSpPr/>
          <p:nvPr/>
        </p:nvSpPr>
        <p:spPr>
          <a:xfrm>
            <a:off x="4366260" y="24231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3383280" y="3246120"/>
            <a:ext cx="260604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B1F2A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566160" y="342900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Post-training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3566160" y="3931920"/>
            <a:ext cx="22402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Refines the model to be more helpful and conversational.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7200900" y="242316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7" name="Text 15"/>
          <p:cNvSpPr/>
          <p:nvPr/>
        </p:nvSpPr>
        <p:spPr>
          <a:xfrm>
            <a:off x="7200900" y="24231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400" dirty="0"/>
          </a:p>
        </p:txBody>
      </p:sp>
      <p:sp>
        <p:nvSpPr>
          <p:cNvPr id="18" name="Shape 16"/>
          <p:cNvSpPr/>
          <p:nvPr/>
        </p:nvSpPr>
        <p:spPr>
          <a:xfrm>
            <a:off x="6217920" y="3246120"/>
            <a:ext cx="260604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B1F2A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400800" y="342900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 Experience</a:t>
            </a:r>
            <a:endParaRPr lang="en-US" sz="1550" dirty="0"/>
          </a:p>
        </p:txBody>
      </p:sp>
      <p:sp>
        <p:nvSpPr>
          <p:cNvPr id="20" name="Text 18"/>
          <p:cNvSpPr/>
          <p:nvPr/>
        </p:nvSpPr>
        <p:spPr>
          <a:xfrm>
            <a:off x="6400800" y="3931920"/>
            <a:ext cx="22402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trained model is incorporated into products such as ChatGPT.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10035540" y="2423160"/>
            <a:ext cx="640080" cy="64008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22" name="Text 20"/>
          <p:cNvSpPr/>
          <p:nvPr/>
        </p:nvSpPr>
        <p:spPr>
          <a:xfrm>
            <a:off x="10035540" y="24231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400" dirty="0"/>
          </a:p>
        </p:txBody>
      </p:sp>
      <p:sp>
        <p:nvSpPr>
          <p:cNvPr id="23" name="Shape 21"/>
          <p:cNvSpPr/>
          <p:nvPr/>
        </p:nvSpPr>
        <p:spPr>
          <a:xfrm>
            <a:off x="9052560" y="3246120"/>
            <a:ext cx="260604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B1F2A">
                <a:alpha val="1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9235440" y="342900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Ongoing Feedback</a:t>
            </a:r>
            <a:endParaRPr lang="en-US" sz="1550" dirty="0"/>
          </a:p>
        </p:txBody>
      </p:sp>
      <p:sp>
        <p:nvSpPr>
          <p:cNvPr id="25" name="Text 23"/>
          <p:cNvSpPr/>
          <p:nvPr/>
        </p:nvSpPr>
        <p:spPr>
          <a:xfrm>
            <a:off x="9235440" y="3931920"/>
            <a:ext cx="22402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are improved through research and user interactions.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Foundations — OpenAI Academy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1457432" y="65105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WITH AI CORRECTLY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Know When to Use Trusted Sources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11064240" cy="822960"/>
          </a:xfrm>
          <a:prstGeom prst="roundRect">
            <a:avLst>
              <a:gd name="adj" fmla="val 8889"/>
            </a:avLst>
          </a:prstGeom>
          <a:solidFill>
            <a:srgbClr val="1E2761"/>
          </a:solidFill>
          <a:ln/>
          <a:effectLst>
            <a:outerShdw blurRad="101600" dist="38100" dir="5400000" algn="bl" rotWithShape="0">
              <a:srgbClr val="1B1F2A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175564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PRINCIPLE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68680" y="1984248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 ChatGPT as a workspace, not as a source of truth.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548640" y="274320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WORKFLOW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3108960"/>
            <a:ext cx="3246120" cy="1371600"/>
          </a:xfrm>
          <a:prstGeom prst="roundRect">
            <a:avLst>
              <a:gd name="adj" fmla="val 5333"/>
            </a:avLst>
          </a:prstGeom>
          <a:solidFill>
            <a:srgbClr val="F7F9FC"/>
          </a:solidFill>
          <a:ln/>
          <a:effectLst>
            <a:outerShdw blurRad="101600" dist="38100" dir="5400000" algn="bl" rotWithShape="0">
              <a:srgbClr val="1B1F2A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77240" y="3291840"/>
            <a:ext cx="438912" cy="438912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329184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77240" y="3840480"/>
            <a:ext cx="2788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with a trusted source, file, or web search.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867912" y="3630168"/>
            <a:ext cx="402336" cy="329184"/>
          </a:xfrm>
          <a:prstGeom prst="rightArrow">
            <a:avLst/>
          </a:prstGeom>
          <a:solidFill>
            <a:srgbClr val="F2A93B"/>
          </a:solidFill>
          <a:ln/>
        </p:spPr>
      </p:sp>
      <p:sp>
        <p:nvSpPr>
          <p:cNvPr id="13" name="Shape 11"/>
          <p:cNvSpPr/>
          <p:nvPr/>
        </p:nvSpPr>
        <p:spPr>
          <a:xfrm>
            <a:off x="4343400" y="3108960"/>
            <a:ext cx="3246120" cy="1371600"/>
          </a:xfrm>
          <a:prstGeom prst="roundRect">
            <a:avLst>
              <a:gd name="adj" fmla="val 5333"/>
            </a:avLst>
          </a:prstGeom>
          <a:solidFill>
            <a:srgbClr val="F7F9FC"/>
          </a:solidFill>
          <a:ln/>
          <a:effectLst>
            <a:outerShdw blurRad="101600" dist="38100" dir="5400000" algn="bl" rotWithShape="0">
              <a:srgbClr val="1B1F2A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0" y="3291840"/>
            <a:ext cx="438912" cy="438912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0" y="329184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572000" y="3840480"/>
            <a:ext cx="2788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the source material to ChatGPT.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662672" y="3630168"/>
            <a:ext cx="402336" cy="329184"/>
          </a:xfrm>
          <a:prstGeom prst="rightArrow">
            <a:avLst/>
          </a:prstGeom>
          <a:solidFill>
            <a:srgbClr val="F2A93B"/>
          </a:solidFill>
          <a:ln/>
        </p:spPr>
      </p:sp>
      <p:sp>
        <p:nvSpPr>
          <p:cNvPr id="18" name="Shape 16"/>
          <p:cNvSpPr/>
          <p:nvPr/>
        </p:nvSpPr>
        <p:spPr>
          <a:xfrm>
            <a:off x="8138160" y="3108960"/>
            <a:ext cx="3246120" cy="1371600"/>
          </a:xfrm>
          <a:prstGeom prst="roundRect">
            <a:avLst>
              <a:gd name="adj" fmla="val 5333"/>
            </a:avLst>
          </a:prstGeom>
          <a:solidFill>
            <a:srgbClr val="F7F9FC"/>
          </a:solidFill>
          <a:ln/>
          <a:effectLst>
            <a:outerShdw blurRad="101600" dist="38100" dir="5400000" algn="bl" rotWithShape="0">
              <a:srgbClr val="1B1F2A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366760" y="3291840"/>
            <a:ext cx="438912" cy="438912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0" name="Text 18"/>
          <p:cNvSpPr/>
          <p:nvPr/>
        </p:nvSpPr>
        <p:spPr>
          <a:xfrm>
            <a:off x="8366760" y="329184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366760" y="3840480"/>
            <a:ext cx="2788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ChatGPT to summarize, explain, checklist, draft, or compare.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48640" y="480060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TRUSTED SOURCES FOR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48640" y="5166360"/>
            <a:ext cx="1279246" cy="384048"/>
          </a:xfrm>
          <a:prstGeom prst="roundRect">
            <a:avLst>
              <a:gd name="adj" fmla="val 50000"/>
            </a:avLst>
          </a:prstGeom>
          <a:solidFill>
            <a:srgbClr val="CADCFC"/>
          </a:solidFill>
          <a:ln/>
        </p:spPr>
      </p:sp>
      <p:sp>
        <p:nvSpPr>
          <p:cNvPr id="24" name="Text 22"/>
          <p:cNvSpPr/>
          <p:nvPr/>
        </p:nvSpPr>
        <p:spPr>
          <a:xfrm>
            <a:off x="548640" y="5166360"/>
            <a:ext cx="127924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facts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1965046" y="5166360"/>
            <a:ext cx="2189988" cy="384048"/>
          </a:xfrm>
          <a:prstGeom prst="roundRect">
            <a:avLst>
              <a:gd name="adj" fmla="val 50000"/>
            </a:avLst>
          </a:prstGeom>
          <a:solidFill>
            <a:srgbClr val="CADCFC"/>
          </a:solidFill>
          <a:ln/>
        </p:spPr>
      </p:sp>
      <p:sp>
        <p:nvSpPr>
          <p:cNvPr id="26" name="Text 24"/>
          <p:cNvSpPr/>
          <p:nvPr/>
        </p:nvSpPr>
        <p:spPr>
          <a:xfrm>
            <a:off x="1965046" y="5166360"/>
            <a:ext cx="21899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Policies / legal guidance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292194" y="5166360"/>
            <a:ext cx="747979" cy="384048"/>
          </a:xfrm>
          <a:prstGeom prst="roundRect">
            <a:avLst>
              <a:gd name="adj" fmla="val 50000"/>
            </a:avLst>
          </a:prstGeom>
          <a:solidFill>
            <a:srgbClr val="CADCFC"/>
          </a:solidFill>
          <a:ln/>
        </p:spPr>
      </p:sp>
      <p:sp>
        <p:nvSpPr>
          <p:cNvPr id="28" name="Text 26"/>
          <p:cNvSpPr/>
          <p:nvPr/>
        </p:nvSpPr>
        <p:spPr>
          <a:xfrm>
            <a:off x="4292194" y="5166360"/>
            <a:ext cx="74797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177333" y="5166360"/>
            <a:ext cx="672084" cy="384048"/>
          </a:xfrm>
          <a:prstGeom prst="roundRect">
            <a:avLst>
              <a:gd name="adj" fmla="val 50000"/>
            </a:avLst>
          </a:prstGeom>
          <a:solidFill>
            <a:srgbClr val="CADCFC"/>
          </a:solidFill>
          <a:ln/>
        </p:spPr>
      </p:sp>
      <p:sp>
        <p:nvSpPr>
          <p:cNvPr id="30" name="Text 28"/>
          <p:cNvSpPr/>
          <p:nvPr/>
        </p:nvSpPr>
        <p:spPr>
          <a:xfrm>
            <a:off x="5177333" y="5166360"/>
            <a:ext cx="6720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5986577" y="5166360"/>
            <a:ext cx="975665" cy="384048"/>
          </a:xfrm>
          <a:prstGeom prst="roundRect">
            <a:avLst>
              <a:gd name="adj" fmla="val 50000"/>
            </a:avLst>
          </a:prstGeom>
          <a:solidFill>
            <a:srgbClr val="CADCFC"/>
          </a:solidFill>
          <a:ln/>
        </p:spPr>
      </p:sp>
      <p:sp>
        <p:nvSpPr>
          <p:cNvPr id="32" name="Text 30"/>
          <p:cNvSpPr/>
          <p:nvPr/>
        </p:nvSpPr>
        <p:spPr>
          <a:xfrm>
            <a:off x="5986577" y="5166360"/>
            <a:ext cx="97566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Schedules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7099402" y="5166360"/>
            <a:ext cx="975665" cy="384048"/>
          </a:xfrm>
          <a:prstGeom prst="roundRect">
            <a:avLst>
              <a:gd name="adj" fmla="val 50000"/>
            </a:avLst>
          </a:prstGeom>
          <a:solidFill>
            <a:srgbClr val="CADCFC"/>
          </a:solidFill>
          <a:ln/>
        </p:spPr>
      </p:sp>
      <p:sp>
        <p:nvSpPr>
          <p:cNvPr id="34" name="Text 32"/>
          <p:cNvSpPr/>
          <p:nvPr/>
        </p:nvSpPr>
        <p:spPr>
          <a:xfrm>
            <a:off x="7099402" y="5166360"/>
            <a:ext cx="97566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Citations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8212226" y="5166360"/>
            <a:ext cx="672084" cy="384048"/>
          </a:xfrm>
          <a:prstGeom prst="roundRect">
            <a:avLst>
              <a:gd name="adj" fmla="val 50000"/>
            </a:avLst>
          </a:prstGeom>
          <a:solidFill>
            <a:srgbClr val="CADCFC"/>
          </a:solidFill>
          <a:ln/>
        </p:spPr>
      </p:sp>
      <p:sp>
        <p:nvSpPr>
          <p:cNvPr id="36" name="Text 34"/>
          <p:cNvSpPr/>
          <p:nvPr/>
        </p:nvSpPr>
        <p:spPr>
          <a:xfrm>
            <a:off x="8212226" y="5166360"/>
            <a:ext cx="6720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Links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9021470" y="5166360"/>
            <a:ext cx="1886407" cy="384048"/>
          </a:xfrm>
          <a:prstGeom prst="roundRect">
            <a:avLst>
              <a:gd name="adj" fmla="val 50000"/>
            </a:avLst>
          </a:prstGeom>
          <a:solidFill>
            <a:srgbClr val="CADCFC"/>
          </a:solidFill>
          <a:ln/>
        </p:spPr>
      </p:sp>
      <p:sp>
        <p:nvSpPr>
          <p:cNvPr id="38" name="Text 36"/>
          <p:cNvSpPr/>
          <p:nvPr/>
        </p:nvSpPr>
        <p:spPr>
          <a:xfrm>
            <a:off x="9021470" y="5166360"/>
            <a:ext cx="188640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source material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Foundations — OpenAI Academy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11457432" y="65105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WITH AI CORRECTLY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AI Needs Human Review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5212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2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AI-GENERATED RESPONSES CAN BE...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521208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B1F2A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2148840"/>
            <a:ext cx="4754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Incomplete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2834640"/>
            <a:ext cx="521208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B1F2A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22960" y="2834640"/>
            <a:ext cx="4754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Outdated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3520440"/>
            <a:ext cx="521208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B1F2A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22960" y="3520440"/>
            <a:ext cx="4754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Incorrect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4206240"/>
            <a:ext cx="521208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B1F2A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22960" y="4206240"/>
            <a:ext cx="4754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Confident-sounding without sufficient support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48640" y="498348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2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LIMITS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48640" y="5276088"/>
            <a:ext cx="5212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ct val="125000"/>
              </a:lnSpc>
              <a:buSzPct val="100000"/>
              <a:buChar char="•"/>
            </a:pPr>
            <a:r>
              <a:rPr lang="en-US" sz="12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Gaps — AI may not know recent events or private information.</a:t>
            </a:r>
            <a:endParaRPr lang="en-US" sz="1250" dirty="0"/>
          </a:p>
          <a:p>
            <a:pPr marL="177800" indent="-177800">
              <a:lnSpc>
                <a:spcPct val="125000"/>
              </a:lnSpc>
              <a:buSzPct val="100000"/>
              <a:buChar char="•"/>
            </a:pPr>
            <a:r>
              <a:rPr lang="en-US" sz="12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Variation — the same prompt may produce slightly different responses.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080760" y="1691640"/>
            <a:ext cx="5532120" cy="2148840"/>
          </a:xfrm>
          <a:prstGeom prst="roundRect">
            <a:avLst>
              <a:gd name="adj" fmla="val 3404"/>
            </a:avLst>
          </a:prstGeom>
          <a:solidFill>
            <a:srgbClr val="1E2761"/>
          </a:solidFill>
          <a:ln/>
          <a:effectLst>
            <a:outerShdw blurRad="101600" dist="38100" dir="5400000" algn="bl" rotWithShape="0">
              <a:srgbClr val="1B1F2A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400800" y="19659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6400800" y="2606040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Hallucination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6400800" y="3017520"/>
            <a:ext cx="4892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plausible, confident-sounding AI response that is not properly grounded in the correct information.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6080760" y="4069080"/>
            <a:ext cx="553212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B1F2A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400800" y="4297680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400800" y="4617720"/>
            <a:ext cx="4892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ct val="140000"/>
              </a:lnSpc>
              <a:buSzPct val="100000"/>
              <a:buChar char="•"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clear context and sources.</a:t>
            </a:r>
            <a:endParaRPr lang="en-US" sz="1450" dirty="0"/>
          </a:p>
          <a:p>
            <a:pPr marL="177800" indent="-177800">
              <a:lnSpc>
                <a:spcPct val="140000"/>
              </a:lnSpc>
              <a:buSzPct val="100000"/>
              <a:buChar char="•"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the AI output using your own judgment.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Foundations — OpenAI Academy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1457432" y="65105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WITH AI CORRECTLY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Generate → Ground → Review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520440" cy="3566160"/>
          </a:xfrm>
          <a:prstGeom prst="roundRect">
            <a:avLst>
              <a:gd name="adj" fmla="val 2078"/>
            </a:avLst>
          </a:prstGeom>
          <a:solidFill>
            <a:srgbClr val="1E2761"/>
          </a:solidFill>
          <a:ln/>
          <a:effectLst>
            <a:outerShdw blurRad="101600" dist="38100" dir="5400000" algn="bl" rotWithShape="0">
              <a:srgbClr val="1B1F2A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011680"/>
            <a:ext cx="502920" cy="50292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011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463040" y="201168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Generate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22960" y="2788920"/>
            <a:ext cx="29718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40000"/>
              </a:lnSpc>
              <a:buSzPct val="100000"/>
              <a:buChar char="•"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Drafting</a:t>
            </a:r>
            <a:endParaRPr lang="en-US" sz="1450" dirty="0"/>
          </a:p>
          <a:p>
            <a:pPr marL="177800" indent="-177800">
              <a:lnSpc>
                <a:spcPct val="140000"/>
              </a:lnSpc>
              <a:buSzPct val="100000"/>
              <a:buChar char="•"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Explaining</a:t>
            </a:r>
            <a:endParaRPr lang="en-US" sz="1450" dirty="0"/>
          </a:p>
          <a:p>
            <a:pPr marL="177800" indent="-177800">
              <a:lnSpc>
                <a:spcPct val="140000"/>
              </a:lnSpc>
              <a:buSzPct val="100000"/>
              <a:buChar char="•"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Brainstorming</a:t>
            </a:r>
            <a:endParaRPr lang="en-US" sz="1450" dirty="0"/>
          </a:p>
          <a:p>
            <a:pPr marL="177800" indent="-177800">
              <a:lnSpc>
                <a:spcPct val="140000"/>
              </a:lnSpc>
              <a:buSzPct val="100000"/>
              <a:buChar char="•"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Organizing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4069080" y="3200400"/>
            <a:ext cx="2560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0" name="Shape 8"/>
          <p:cNvSpPr/>
          <p:nvPr/>
        </p:nvSpPr>
        <p:spPr>
          <a:xfrm>
            <a:off x="4325112" y="1737360"/>
            <a:ext cx="3520440" cy="3566160"/>
          </a:xfrm>
          <a:prstGeom prst="roundRect">
            <a:avLst>
              <a:gd name="adj" fmla="val 2078"/>
            </a:avLst>
          </a:prstGeom>
          <a:solidFill>
            <a:srgbClr val="2E3B85"/>
          </a:solidFill>
          <a:ln/>
          <a:effectLst>
            <a:outerShdw blurRad="101600" dist="38100" dir="5400000" algn="bl" rotWithShape="0">
              <a:srgbClr val="1B1F2A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99432" y="2011680"/>
            <a:ext cx="502920" cy="50292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12" name="Text 10"/>
          <p:cNvSpPr/>
          <p:nvPr/>
        </p:nvSpPr>
        <p:spPr>
          <a:xfrm>
            <a:off x="4599432" y="2011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5239512" y="201168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Ground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4599432" y="2788920"/>
            <a:ext cx="29718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40000"/>
              </a:lnSpc>
              <a:buSzPct val="100000"/>
              <a:buChar char="•"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context</a:t>
            </a:r>
            <a:endParaRPr lang="en-US" sz="1450" dirty="0"/>
          </a:p>
          <a:p>
            <a:pPr marL="177800" indent="-177800">
              <a:lnSpc>
                <a:spcPct val="140000"/>
              </a:lnSpc>
              <a:buSzPct val="100000"/>
              <a:buChar char="•"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files</a:t>
            </a:r>
            <a:endParaRPr lang="en-US" sz="1450" dirty="0"/>
          </a:p>
          <a:p>
            <a:pPr marL="177800" indent="-177800">
              <a:lnSpc>
                <a:spcPct val="140000"/>
              </a:lnSpc>
              <a:buSzPct val="100000"/>
              <a:buChar char="•"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trusted sources</a:t>
            </a:r>
            <a:endParaRPr lang="en-US" sz="1450" dirty="0"/>
          </a:p>
          <a:p>
            <a:pPr marL="177800" indent="-177800">
              <a:lnSpc>
                <a:spcPct val="140000"/>
              </a:lnSpc>
              <a:buSzPct val="100000"/>
              <a:buChar char="•"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search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7845552" y="3200400"/>
            <a:ext cx="2560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6" name="Shape 14"/>
          <p:cNvSpPr/>
          <p:nvPr/>
        </p:nvSpPr>
        <p:spPr>
          <a:xfrm>
            <a:off x="8101584" y="1737360"/>
            <a:ext cx="3520440" cy="3566160"/>
          </a:xfrm>
          <a:prstGeom prst="roundRect">
            <a:avLst>
              <a:gd name="adj" fmla="val 2078"/>
            </a:avLst>
          </a:prstGeom>
          <a:solidFill>
            <a:srgbClr val="CADCFC"/>
          </a:solidFill>
          <a:ln/>
          <a:effectLst>
            <a:outerShdw blurRad="101600" dist="38100" dir="5400000" algn="bl" rotWithShape="0">
              <a:srgbClr val="1B1F2A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375904" y="201168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8" name="Text 16"/>
          <p:cNvSpPr/>
          <p:nvPr/>
        </p:nvSpPr>
        <p:spPr>
          <a:xfrm>
            <a:off x="8375904" y="2011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9015984" y="201168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Review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8375904" y="2788920"/>
            <a:ext cx="29718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40000"/>
              </a:lnSpc>
              <a:buSzPct val="100000"/>
              <a:buChar char="•"/>
            </a:pPr>
            <a:r>
              <a:rPr lang="en-US" sz="14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450" dirty="0"/>
          </a:p>
          <a:p>
            <a:pPr marL="177800" indent="-177800">
              <a:lnSpc>
                <a:spcPct val="140000"/>
              </a:lnSpc>
              <a:buSzPct val="100000"/>
              <a:buChar char="•"/>
            </a:pPr>
            <a:r>
              <a:rPr lang="en-US" sz="14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</a:t>
            </a:r>
            <a:endParaRPr lang="en-US" sz="1450" dirty="0"/>
          </a:p>
          <a:p>
            <a:pPr marL="177800" indent="-177800">
              <a:lnSpc>
                <a:spcPct val="140000"/>
              </a:lnSpc>
              <a:buSzPct val="100000"/>
              <a:buChar char="•"/>
            </a:pPr>
            <a:r>
              <a:rPr lang="en-US" sz="14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Completeness</a:t>
            </a:r>
            <a:endParaRPr lang="en-US" sz="1450" dirty="0"/>
          </a:p>
          <a:p>
            <a:pPr marL="177800" indent="-177800">
              <a:lnSpc>
                <a:spcPct val="140000"/>
              </a:lnSpc>
              <a:buSzPct val="100000"/>
              <a:buChar char="•"/>
            </a:pPr>
            <a:r>
              <a:rPr lang="en-US" sz="14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support</a:t>
            </a:r>
            <a:endParaRPr lang="en-US" sz="1450" dirty="0"/>
          </a:p>
        </p:txBody>
      </p:sp>
      <p:sp>
        <p:nvSpPr>
          <p:cNvPr id="21" name="Shape 19"/>
          <p:cNvSpPr/>
          <p:nvPr/>
        </p:nvSpPr>
        <p:spPr>
          <a:xfrm>
            <a:off x="548640" y="5486400"/>
            <a:ext cx="11064240" cy="685800"/>
          </a:xfrm>
          <a:prstGeom prst="roundRect">
            <a:avLst>
              <a:gd name="adj" fmla="val 10667"/>
            </a:avLst>
          </a:prstGeom>
          <a:solidFill>
            <a:srgbClr val="F7F9FC"/>
          </a:solidFill>
          <a:ln/>
          <a:effectLst>
            <a:outerShdw blurRad="101600" dist="38100" dir="5400000" algn="bl" rotWithShape="0">
              <a:srgbClr val="1B1F2A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822960" y="548640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Golden Rule:  </a:t>
            </a:r>
            <a:r>
              <a:rPr lang="en-US" sz="1500" i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AI enough direction to help you, then apply your own human judgment.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Foundations — OpenAI Academy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1457432" y="65105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BETTER PROMPTS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Habits for Better Prompting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212080" cy="4434840"/>
          </a:xfrm>
          <a:prstGeom prst="roundRect">
            <a:avLst>
              <a:gd name="adj" fmla="val 1649"/>
            </a:avLst>
          </a:prstGeom>
          <a:solidFill>
            <a:srgbClr val="1E2761"/>
          </a:solidFill>
          <a:ln/>
          <a:effectLst>
            <a:outerShdw blurRad="101600" dist="38100" dir="5400000" algn="bl" rotWithShape="0">
              <a:srgbClr val="1B1F2A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011680"/>
            <a:ext cx="502920" cy="50292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011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554480" y="201168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Direct the Work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914400" y="269748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Use: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914400" y="3017520"/>
            <a:ext cx="4480560" cy="502920"/>
          </a:xfrm>
          <a:prstGeom prst="roundRect">
            <a:avLst>
              <a:gd name="adj" fmla="val 10909"/>
            </a:avLst>
          </a:prstGeom>
          <a:solidFill>
            <a:srgbClr val="2E3B85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017520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Task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14400" y="3502152"/>
            <a:ext cx="4480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914400" y="3675888"/>
            <a:ext cx="4480560" cy="502920"/>
          </a:xfrm>
          <a:prstGeom prst="roundRect">
            <a:avLst>
              <a:gd name="adj" fmla="val 10909"/>
            </a:avLst>
          </a:prstGeom>
          <a:solidFill>
            <a:srgbClr val="2E3B85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3675888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Context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914400" y="4160520"/>
            <a:ext cx="4480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914400" y="4334256"/>
            <a:ext cx="4480560" cy="502920"/>
          </a:xfrm>
          <a:prstGeom prst="roundRect">
            <a:avLst>
              <a:gd name="adj" fmla="val 10909"/>
            </a:avLst>
          </a:prstGeom>
          <a:solidFill>
            <a:srgbClr val="2E3B85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4334256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Expectation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914400" y="5257800"/>
            <a:ext cx="4480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vague prompt makes AI guess. A clear prompt specifies the task, audience, tone, length, and expected output.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035040" y="169164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1691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6720840" y="1691640"/>
            <a:ext cx="4892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Review the Work</a:t>
            </a:r>
            <a:endParaRPr lang="en-US" sz="1900" dirty="0"/>
          </a:p>
        </p:txBody>
      </p:sp>
      <p:sp>
        <p:nvSpPr>
          <p:cNvPr id="21" name="Text 19"/>
          <p:cNvSpPr/>
          <p:nvPr/>
        </p:nvSpPr>
        <p:spPr>
          <a:xfrm>
            <a:off x="6035040" y="2286000"/>
            <a:ext cx="5577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 AI output as a first draft. Use the CLEAR structure: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035040" y="2880360"/>
            <a:ext cx="557784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B1F2A">
                <a:alpha val="1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144768" y="2953512"/>
            <a:ext cx="402336" cy="402336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24" name="Text 22"/>
          <p:cNvSpPr/>
          <p:nvPr/>
        </p:nvSpPr>
        <p:spPr>
          <a:xfrm>
            <a:off x="6144768" y="295351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675120" y="288036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</a:t>
            </a:r>
            <a:endParaRPr lang="en-US" sz="1450" dirty="0"/>
          </a:p>
        </p:txBody>
      </p:sp>
      <p:sp>
        <p:nvSpPr>
          <p:cNvPr id="26" name="Shape 24"/>
          <p:cNvSpPr/>
          <p:nvPr/>
        </p:nvSpPr>
        <p:spPr>
          <a:xfrm>
            <a:off x="6035040" y="3538728"/>
            <a:ext cx="557784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B1F2A">
                <a:alpha val="1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144768" y="3611880"/>
            <a:ext cx="402336" cy="402336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28" name="Text 26"/>
          <p:cNvSpPr/>
          <p:nvPr/>
        </p:nvSpPr>
        <p:spPr>
          <a:xfrm>
            <a:off x="6144768" y="36118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675120" y="3538728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Logical</a:t>
            </a:r>
            <a:endParaRPr lang="en-US" sz="1450" dirty="0"/>
          </a:p>
        </p:txBody>
      </p:sp>
      <p:sp>
        <p:nvSpPr>
          <p:cNvPr id="30" name="Shape 28"/>
          <p:cNvSpPr/>
          <p:nvPr/>
        </p:nvSpPr>
        <p:spPr>
          <a:xfrm>
            <a:off x="6035040" y="4197096"/>
            <a:ext cx="557784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B1F2A">
                <a:alpha val="1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144768" y="4270248"/>
            <a:ext cx="402336" cy="402336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32" name="Text 30"/>
          <p:cNvSpPr/>
          <p:nvPr/>
        </p:nvSpPr>
        <p:spPr>
          <a:xfrm>
            <a:off x="6144768" y="427024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675120" y="4197096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1450" dirty="0"/>
          </a:p>
        </p:txBody>
      </p:sp>
      <p:sp>
        <p:nvSpPr>
          <p:cNvPr id="34" name="Shape 32"/>
          <p:cNvSpPr/>
          <p:nvPr/>
        </p:nvSpPr>
        <p:spPr>
          <a:xfrm>
            <a:off x="6035040" y="4855464"/>
            <a:ext cx="557784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B1F2A">
                <a:alpha val="1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144768" y="4928616"/>
            <a:ext cx="402336" cy="402336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36" name="Text 34"/>
          <p:cNvSpPr/>
          <p:nvPr/>
        </p:nvSpPr>
        <p:spPr>
          <a:xfrm>
            <a:off x="6144768" y="492861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6675120" y="4855464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Audience</a:t>
            </a:r>
            <a:endParaRPr lang="en-US" sz="1450" dirty="0"/>
          </a:p>
        </p:txBody>
      </p:sp>
      <p:sp>
        <p:nvSpPr>
          <p:cNvPr id="38" name="Shape 36"/>
          <p:cNvSpPr/>
          <p:nvPr/>
        </p:nvSpPr>
        <p:spPr>
          <a:xfrm>
            <a:off x="6035040" y="5513832"/>
            <a:ext cx="557784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B1F2A">
                <a:alpha val="18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6144768" y="5586984"/>
            <a:ext cx="402336" cy="402336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40" name="Text 38"/>
          <p:cNvSpPr/>
          <p:nvPr/>
        </p:nvSpPr>
        <p:spPr>
          <a:xfrm>
            <a:off x="6144768" y="558698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6675120" y="5513832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Relevant</a:t>
            </a:r>
            <a:endParaRPr lang="en-US" sz="1450" dirty="0"/>
          </a:p>
        </p:txBody>
      </p:sp>
      <p:sp>
        <p:nvSpPr>
          <p:cNvPr id="42" name="Text 40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Foundations — OpenAI Academy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11457432" y="65105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7FC58EB-5C9F-2100-E207-513E33C51A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896716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F55EF25-AA2C-D8BB-CBB7-6512E10B2F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20216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95A9891-2787-0DD1-AF8B-A21380F9D0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886" y="285595"/>
            <a:ext cx="11270470" cy="62868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835081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POWER OF CONTEXT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Power of Context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5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helps ChatGPT understand your goals, source material, audience, and preferred way of working.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548640" y="228600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CONTEXT QUESTIONS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2651760"/>
            <a:ext cx="3566160" cy="1554480"/>
          </a:xfrm>
          <a:prstGeom prst="roundRect">
            <a:avLst>
              <a:gd name="adj" fmla="val 4706"/>
            </a:avLst>
          </a:prstGeom>
          <a:solidFill>
            <a:srgbClr val="F7F9FC"/>
          </a:solidFill>
          <a:ln/>
          <a:effectLst>
            <a:outerShdw blurRad="101600" dist="38100" dir="5400000" algn="bl" rotWithShape="0">
              <a:srgbClr val="1B1F2A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77240" y="27889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?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777240" y="338328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are you trying to do?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4297680" y="2651760"/>
            <a:ext cx="3566160" cy="1554480"/>
          </a:xfrm>
          <a:prstGeom prst="roundRect">
            <a:avLst>
              <a:gd name="adj" fmla="val 4706"/>
            </a:avLst>
          </a:prstGeom>
          <a:solidFill>
            <a:srgbClr val="F7F9FC"/>
          </a:solidFill>
          <a:ln/>
          <a:effectLst>
            <a:outerShdw blurRad="101600" dist="38100" dir="5400000" algn="bl" rotWithShape="0">
              <a:srgbClr val="1B1F2A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526280" y="27889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?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4526280" y="338328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information should ChatGPT use?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8046720" y="2651760"/>
            <a:ext cx="3566160" cy="1554480"/>
          </a:xfrm>
          <a:prstGeom prst="roundRect">
            <a:avLst>
              <a:gd name="adj" fmla="val 4706"/>
            </a:avLst>
          </a:prstGeom>
          <a:solidFill>
            <a:srgbClr val="F7F9FC"/>
          </a:solidFill>
          <a:ln/>
          <a:effectLst>
            <a:outerShdw blurRad="101600" dist="38100" dir="5400000" algn="bl" rotWithShape="0">
              <a:srgbClr val="1B1F2A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275320" y="27889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?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8275320" y="338328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would a good response look like?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548640" y="4434840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1E2761"/>
          </a:solidFill>
          <a:ln/>
          <a:effectLst>
            <a:outerShdw blurRad="101600" dist="38100" dir="5400000" algn="bl" rotWithShape="0">
              <a:srgbClr val="1B1F2A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68680" y="4434840"/>
            <a:ext cx="10424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Golden Rule:  </a:t>
            </a:r>
            <a:r>
              <a:rPr lang="en-US" sz="16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 teammate would need certain information to complete a task well, ChatGPT probably needs it too.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48640" y="566928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ADD: Task  •  Information (background, files, sources, examples, audience, constraints, goals)  •  Expected Output (format, tone, length, sections, criteria)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Foundations — OpenAI Academy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1457432" y="65105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>
            <a:extLst>
              <a:ext uri="{FF2B5EF4-FFF2-40B4-BE49-F238E27FC236}">
                <a16:creationId xmlns:a16="http://schemas.microsoft.com/office/drawing/2014/main" id="{38855090-401E-B257-2ACE-FE376AEA02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658873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CHOOSING THE RIGHT CONTEXT SOURCE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Files, Search, and Saved Preferences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520440" cy="4434840"/>
          </a:xfrm>
          <a:prstGeom prst="roundRect">
            <a:avLst>
              <a:gd name="adj" fmla="val 2078"/>
            </a:avLst>
          </a:prstGeom>
          <a:solidFill>
            <a:srgbClr val="1E2761"/>
          </a:solidFill>
          <a:ln/>
          <a:effectLst>
            <a:outerShdw blurRad="101600" dist="38100" dir="5400000" algn="bl" rotWithShape="0">
              <a:srgbClr val="1B1F2A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011680"/>
            <a:ext cx="502920" cy="50292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011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22960" y="269748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 Files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22960" y="3200400"/>
            <a:ext cx="29718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35000"/>
              </a:lnSpc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→ summarize findings</a:t>
            </a:r>
            <a:endParaRPr lang="en-US" sz="1300" dirty="0"/>
          </a:p>
          <a:p>
            <a:pPr marL="177800" indent="-177800">
              <a:lnSpc>
                <a:spcPct val="135000"/>
              </a:lnSpc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Spreadsheet → find trends</a:t>
            </a:r>
            <a:endParaRPr lang="en-US" sz="1300" dirty="0"/>
          </a:p>
          <a:p>
            <a:pPr marL="177800" indent="-177800">
              <a:lnSpc>
                <a:spcPct val="135000"/>
              </a:lnSpc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→ build a checklist</a:t>
            </a:r>
            <a:endParaRPr lang="en-US" sz="1300" dirty="0"/>
          </a:p>
          <a:p>
            <a:pPr marL="177800" indent="-177800">
              <a:lnSpc>
                <a:spcPct val="135000"/>
              </a:lnSpc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Notes → capture decisions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325112" y="1737360"/>
            <a:ext cx="3520440" cy="4434840"/>
          </a:xfrm>
          <a:prstGeom prst="roundRect">
            <a:avLst>
              <a:gd name="adj" fmla="val 2078"/>
            </a:avLst>
          </a:prstGeom>
          <a:solidFill>
            <a:srgbClr val="2E3B85"/>
          </a:solidFill>
          <a:ln/>
          <a:effectLst>
            <a:outerShdw blurRad="101600" dist="38100" dir="5400000" algn="bl" rotWithShape="0">
              <a:srgbClr val="1B1F2A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99432" y="2011680"/>
            <a:ext cx="502920" cy="50292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11" name="Text 9"/>
          <p:cNvSpPr/>
          <p:nvPr/>
        </p:nvSpPr>
        <p:spPr>
          <a:xfrm>
            <a:off x="4599432" y="2011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599432" y="269748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 Search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4599432" y="3200400"/>
            <a:ext cx="29718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35000"/>
              </a:lnSpc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Recent, external, public</a:t>
            </a:r>
            <a:endParaRPr lang="en-US" sz="1300" dirty="0"/>
          </a:p>
          <a:p>
            <a:pPr marL="177800" indent="-177800">
              <a:lnSpc>
                <a:spcPct val="135000"/>
              </a:lnSpc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Time-sensitive info</a:t>
            </a:r>
            <a:endParaRPr lang="en-US" sz="1300" dirty="0"/>
          </a:p>
          <a:p>
            <a:pPr marL="177800" indent="-177800">
              <a:lnSpc>
                <a:spcPct val="135000"/>
              </a:lnSpc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Citations &amp; comparisons</a:t>
            </a:r>
            <a:endParaRPr lang="en-US" sz="1300" dirty="0"/>
          </a:p>
          <a:p>
            <a:pPr marL="177800" indent="-177800">
              <a:lnSpc>
                <a:spcPct val="135000"/>
              </a:lnSpc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≠ human judgment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101584" y="1737360"/>
            <a:ext cx="3520440" cy="4434840"/>
          </a:xfrm>
          <a:prstGeom prst="roundRect">
            <a:avLst>
              <a:gd name="adj" fmla="val 2078"/>
            </a:avLst>
          </a:prstGeom>
          <a:solidFill>
            <a:srgbClr val="CADCFC"/>
          </a:solidFill>
          <a:ln/>
          <a:effectLst>
            <a:outerShdw blurRad="101600" dist="38100" dir="5400000" algn="bl" rotWithShape="0">
              <a:srgbClr val="1B1F2A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375904" y="201168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8375904" y="2011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8375904" y="269748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Save Preferences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8375904" y="3200400"/>
            <a:ext cx="29718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35000"/>
              </a:lnSpc>
              <a:buSzPct val="100000"/>
              <a:buChar char="•"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— a single task</a:t>
            </a:r>
            <a:endParaRPr lang="en-US" sz="1300" dirty="0"/>
          </a:p>
          <a:p>
            <a:pPr marL="177800" indent="-177800">
              <a:lnSpc>
                <a:spcPct val="135000"/>
              </a:lnSpc>
              <a:buSzPct val="100000"/>
              <a:buChar char="•"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Instructions — recurring style</a:t>
            </a:r>
            <a:endParaRPr lang="en-US" sz="1300" dirty="0"/>
          </a:p>
          <a:p>
            <a:pPr marL="177800" indent="-177800">
              <a:lnSpc>
                <a:spcPct val="135000"/>
              </a:lnSpc>
              <a:buSzPct val="100000"/>
              <a:buChar char="•"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— role &amp; ongoing context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Foundations — OpenAI Academy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1457432" y="65105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  <p:pic>
        <p:nvPicPr>
          <p:cNvPr id="4" name="Picture 2">
            <a:extLst>
              <a:ext uri="{FF2B5EF4-FFF2-40B4-BE49-F238E27FC236}">
                <a16:creationId xmlns:a16="http://schemas.microsoft.com/office/drawing/2014/main" id="{53958A3B-20FA-BA3A-9978-7AEC002964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-1463040"/>
            <a:ext cx="4114800" cy="4114800"/>
          </a:xfrm>
          <a:prstGeom prst="ellipse">
            <a:avLst/>
          </a:prstGeom>
          <a:solidFill>
            <a:srgbClr val="263172"/>
          </a:solidFill>
          <a:ln/>
        </p:spPr>
      </p:sp>
      <p:sp>
        <p:nvSpPr>
          <p:cNvPr id="3" name="Shape 1"/>
          <p:cNvSpPr/>
          <p:nvPr/>
        </p:nvSpPr>
        <p:spPr>
          <a:xfrm>
            <a:off x="9875520" y="4754880"/>
            <a:ext cx="4114800" cy="4114800"/>
          </a:xfrm>
          <a:prstGeom prst="ellipse">
            <a:avLst/>
          </a:prstGeom>
          <a:solidFill>
            <a:srgbClr val="263172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RESPONSIBLE AI USE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10515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Three-Part Quick Check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3566160" cy="1737360"/>
          </a:xfrm>
          <a:prstGeom prst="roundRect">
            <a:avLst>
              <a:gd name="adj" fmla="val 4211"/>
            </a:avLst>
          </a:prstGeom>
          <a:solidFill>
            <a:srgbClr val="2E3B85"/>
          </a:solidFill>
          <a:ln/>
          <a:effectLst>
            <a:outerShdw blurRad="101600" dist="38100" dir="5400000" algn="bl" rotWithShape="0">
              <a:srgbClr val="1B1F2A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22960" y="1874520"/>
            <a:ext cx="502920" cy="50292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1874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822960" y="25146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Task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22960" y="288036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this appropriate for ChatGPT?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297680" y="1645920"/>
            <a:ext cx="3566160" cy="1737360"/>
          </a:xfrm>
          <a:prstGeom prst="roundRect">
            <a:avLst>
              <a:gd name="adj" fmla="val 4211"/>
            </a:avLst>
          </a:prstGeom>
          <a:solidFill>
            <a:srgbClr val="2E3B85"/>
          </a:solidFill>
          <a:ln/>
          <a:effectLst>
            <a:outerShdw blurRad="101600" dist="38100" dir="5400000" algn="bl" rotWithShape="0">
              <a:srgbClr val="1B1F2A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0" y="1874520"/>
            <a:ext cx="502920" cy="50292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0" y="1874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4572000" y="25146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Information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572000" y="288036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 I sharing only what is needed and allowed?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046720" y="1645920"/>
            <a:ext cx="3566160" cy="1737360"/>
          </a:xfrm>
          <a:prstGeom prst="roundRect">
            <a:avLst>
              <a:gd name="adj" fmla="val 4211"/>
            </a:avLst>
          </a:prstGeom>
          <a:solidFill>
            <a:srgbClr val="2E3B85"/>
          </a:solidFill>
          <a:ln/>
          <a:effectLst>
            <a:outerShdw blurRad="101600" dist="38100" dir="5400000" algn="bl" rotWithShape="0">
              <a:srgbClr val="1B1F2A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321040" y="1874520"/>
            <a:ext cx="502920" cy="50292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18" name="Text 16"/>
          <p:cNvSpPr/>
          <p:nvPr/>
        </p:nvSpPr>
        <p:spPr>
          <a:xfrm>
            <a:off x="8321040" y="1874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8321040" y="25146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Review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321040" y="288036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carefully should a human check the output?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48640" y="365760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B1F2A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868680" y="365760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i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 line: ChatGPT can improve efficiency and support thinking — but you remain in control.</a:t>
            </a:r>
            <a:endParaRPr lang="en-US" sz="1450" dirty="0"/>
          </a:p>
        </p:txBody>
      </p:sp>
      <p:sp>
        <p:nvSpPr>
          <p:cNvPr id="23" name="Shape 21"/>
          <p:cNvSpPr/>
          <p:nvPr/>
        </p:nvSpPr>
        <p:spPr>
          <a:xfrm>
            <a:off x="548640" y="4709160"/>
            <a:ext cx="11064240" cy="0"/>
          </a:xfrm>
          <a:prstGeom prst="line">
            <a:avLst/>
          </a:prstGeom>
          <a:noFill/>
          <a:ln w="12700">
            <a:solidFill>
              <a:srgbClr val="3A459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8640" y="48463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You're Ready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548640" y="53492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the assessment and score at least 80% to earn your OpenAI Academy course badge.</a:t>
            </a:r>
            <a:endParaRPr lang="en-US" sz="1350" dirty="0"/>
          </a:p>
        </p:txBody>
      </p:sp>
      <p:sp>
        <p:nvSpPr>
          <p:cNvPr id="26" name="Shape 24"/>
          <p:cNvSpPr/>
          <p:nvPr/>
        </p:nvSpPr>
        <p:spPr>
          <a:xfrm>
            <a:off x="1975104" y="5806440"/>
            <a:ext cx="8229600" cy="777240"/>
          </a:xfrm>
          <a:prstGeom prst="roundRect">
            <a:avLst>
              <a:gd name="adj" fmla="val 9412"/>
            </a:avLst>
          </a:prstGeom>
          <a:solidFill>
            <a:srgbClr val="2E3B85"/>
          </a:solidFill>
          <a:ln/>
          <a:effectLst>
            <a:outerShdw blurRad="101600" dist="38100" dir="5400000" algn="bl" rotWithShape="0">
              <a:srgbClr val="1B1F2A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1975104" y="580644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Instruct  →  Context  →  Review  →  Responsibility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1326</Words>
  <Application>Microsoft Office PowerPoint</Application>
  <PresentationFormat>Widescreen</PresentationFormat>
  <Paragraphs>363</Paragraphs>
  <Slides>31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5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SHANMUGA SUNDARAM G</cp:lastModifiedBy>
  <cp:revision>4</cp:revision>
  <dcterms:created xsi:type="dcterms:W3CDTF">2026-09-22T08:49:41Z</dcterms:created>
  <dcterms:modified xsi:type="dcterms:W3CDTF">2026-09-22T13:38:15Z</dcterms:modified>
</cp:coreProperties>
</file>